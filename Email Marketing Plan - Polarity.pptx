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x/aqWqfYBmsQiYmEPuph7IOMT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ctrTitle"/>
          </p:nvPr>
        </p:nvSpPr>
        <p:spPr>
          <a:xfrm>
            <a:off x="1848465" y="3298722"/>
            <a:ext cx="8495070" cy="17844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IN">
                <a:solidFill>
                  <a:srgbClr val="FFFFFF"/>
                </a:solidFill>
              </a:rPr>
              <a:t>Email Marketing Campaign 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848465" y="5258851"/>
            <a:ext cx="8495070" cy="904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-"/>
            </a:pPr>
            <a:r>
              <a:rPr lang="en-IN" sz="1300">
                <a:solidFill>
                  <a:srgbClr val="FFFFFF"/>
                </a:solidFill>
              </a:rPr>
              <a:t>POLARITY SMART BIKES </a:t>
            </a:r>
            <a:endParaRPr/>
          </a:p>
          <a:p>
            <a:pPr indent="-342900" lvl="0" marL="3429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-"/>
            </a:pPr>
            <a:r>
              <a:rPr lang="en-IN" sz="1300">
                <a:solidFill>
                  <a:srgbClr val="FFFFFF"/>
                </a:solidFill>
              </a:rPr>
              <a:t>Padhmaja K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300"/>
              <a:buNone/>
            </a:pPr>
            <a:r>
              <a:rPr lang="en-IN" sz="1300">
                <a:solidFill>
                  <a:srgbClr val="FFFFFF"/>
                </a:solidFill>
              </a:rPr>
              <a:t>20PGP138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mail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264" y="1371601"/>
            <a:ext cx="1175474" cy="117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F5496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F3864">
                  <a:alpha val="67843"/>
                </a:srgbClr>
              </a:gs>
              <a:gs pos="19000">
                <a:srgbClr val="1F3864">
                  <a:alpha val="67843"/>
                </a:srgbClr>
              </a:gs>
              <a:gs pos="100000">
                <a:srgbClr val="4472C4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4472C4">
                  <a:alpha val="0"/>
                </a:srgbClr>
              </a:gs>
              <a:gs pos="23000">
                <a:srgbClr val="4472C4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The Main Points </a:t>
            </a:r>
            <a:endParaRPr/>
          </a:p>
        </p:txBody>
      </p:sp>
      <p:grpSp>
        <p:nvGrpSpPr>
          <p:cNvPr id="98" name="Google Shape;98;p2"/>
          <p:cNvGrpSpPr/>
          <p:nvPr/>
        </p:nvGrpSpPr>
        <p:grpSpPr>
          <a:xfrm>
            <a:off x="977970" y="3308861"/>
            <a:ext cx="10260000" cy="1800240"/>
            <a:chOff x="333914" y="1196282"/>
            <a:chExt cx="10260000" cy="1800240"/>
          </a:xfrm>
        </p:grpSpPr>
        <p:sp>
          <p:nvSpPr>
            <p:cNvPr id="99" name="Google Shape;99;p2"/>
            <p:cNvSpPr/>
            <p:nvPr/>
          </p:nvSpPr>
          <p:spPr>
            <a:xfrm>
              <a:off x="828914" y="1196282"/>
              <a:ext cx="810000" cy="81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3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33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I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Managing the ever-growing Subscriber list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943914" y="1196282"/>
              <a:ext cx="810000" cy="81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448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2448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I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Overseeing the design and copy of very email 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058914" y="1196282"/>
              <a:ext cx="810000" cy="810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56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456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I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Scheduling delivery times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173914" y="1196282"/>
              <a:ext cx="810000" cy="810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6678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6678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I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A/B Testing 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9288914" y="1196282"/>
              <a:ext cx="810000" cy="81000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879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8793914" y="2276522"/>
              <a:ext cx="18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Calibri"/>
                <a:buNone/>
              </a:pPr>
              <a:r>
                <a:rPr b="0" i="0" lang="en-IN" sz="17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Analysing Result  </a:t>
              </a:r>
              <a:endPara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>
            <p:ph type="title"/>
          </p:nvPr>
        </p:nvSpPr>
        <p:spPr>
          <a:xfrm>
            <a:off x="524741" y="620392"/>
            <a:ext cx="3808268" cy="5504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IN" sz="6000">
                <a:solidFill>
                  <a:schemeClr val="lt1"/>
                </a:solidFill>
              </a:rPr>
              <a:t>Certain Research Points </a:t>
            </a:r>
            <a:endParaRPr/>
          </a:p>
        </p:txBody>
      </p:sp>
      <p:grpSp>
        <p:nvGrpSpPr>
          <p:cNvPr id="120" name="Google Shape;120;p3"/>
          <p:cNvGrpSpPr/>
          <p:nvPr/>
        </p:nvGrpSpPr>
        <p:grpSpPr>
          <a:xfrm>
            <a:off x="5847865" y="620392"/>
            <a:ext cx="5504687" cy="5504687"/>
            <a:chOff x="379476" y="0"/>
            <a:chExt cx="5504687" cy="5504687"/>
          </a:xfrm>
        </p:grpSpPr>
        <p:sp>
          <p:nvSpPr>
            <p:cNvPr id="121" name="Google Shape;121;p3"/>
            <p:cNvSpPr/>
            <p:nvPr/>
          </p:nvSpPr>
          <p:spPr>
            <a:xfrm>
              <a:off x="379476" y="0"/>
              <a:ext cx="5504687" cy="5504687"/>
            </a:xfrm>
            <a:prstGeom prst="diamond">
              <a:avLst/>
            </a:prstGeom>
            <a:solidFill>
              <a:srgbClr val="F7D5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902421" y="522945"/>
              <a:ext cx="2146828" cy="2146828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1007221" y="627745"/>
              <a:ext cx="1937228" cy="193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Reaches Directly  to the person’s inbox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3214390" y="522945"/>
              <a:ext cx="2146828" cy="2146828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3319190" y="627745"/>
              <a:ext cx="1937228" cy="193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Interesting content can get the customer loyal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902421" y="2834914"/>
              <a:ext cx="2146828" cy="2146828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 txBox="1"/>
            <p:nvPr/>
          </p:nvSpPr>
          <p:spPr>
            <a:xfrm>
              <a:off x="1007221" y="2939714"/>
              <a:ext cx="1937228" cy="193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Advantage of reaching a target audience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3214390" y="2834914"/>
              <a:ext cx="2146828" cy="2146828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3319190" y="2939714"/>
              <a:ext cx="1937228" cy="193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87% B2B Marketers and 77% of B2C Marketers Use this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524741" y="620392"/>
            <a:ext cx="3808268" cy="5504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IN" sz="6000">
                <a:solidFill>
                  <a:schemeClr val="lt1"/>
                </a:solidFill>
              </a:rPr>
              <a:t>Choosing the Email Marketing tools </a:t>
            </a:r>
            <a:endParaRPr/>
          </a:p>
        </p:txBody>
      </p:sp>
      <p:grpSp>
        <p:nvGrpSpPr>
          <p:cNvPr id="136" name="Google Shape;136;p4"/>
          <p:cNvGrpSpPr/>
          <p:nvPr/>
        </p:nvGrpSpPr>
        <p:grpSpPr>
          <a:xfrm>
            <a:off x="5468389" y="652755"/>
            <a:ext cx="6263640" cy="5439960"/>
            <a:chOff x="0" y="32363"/>
            <a:chExt cx="6263640" cy="5439960"/>
          </a:xfrm>
        </p:grpSpPr>
        <p:sp>
          <p:nvSpPr>
            <p:cNvPr id="137" name="Google Shape;137;p4"/>
            <p:cNvSpPr/>
            <p:nvPr/>
          </p:nvSpPr>
          <p:spPr>
            <a:xfrm>
              <a:off x="0" y="371843"/>
              <a:ext cx="6263640" cy="28980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0" y="371843"/>
              <a:ext cx="6263640" cy="289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3575" lIns="486125" spcFirstLastPara="1" rIns="486125" wrap="square" tIns="4790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Mail Chimp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Campaign Monitor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Gmass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Constant Contact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Active Campaign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Cloud IQ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13182" y="32363"/>
              <a:ext cx="4384548" cy="678960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346326" y="65507"/>
              <a:ext cx="4318260" cy="61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725" spcFirstLastPara="1" rIns="165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Certain Best Marketing tools 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0" y="3733523"/>
              <a:ext cx="6263640" cy="17388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6FAB4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3733523"/>
              <a:ext cx="6263640" cy="173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3575" lIns="486125" spcFirstLastPara="1" rIns="486125" wrap="square" tIns="4790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Designing a Template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Mass personalised Emails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Char char="•"/>
              </a:pPr>
              <a:r>
                <a:rPr b="0" i="0" lang="en-IN" sz="2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Analytics reports of the campaigns </a:t>
              </a:r>
              <a:endParaRPr b="0" i="0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13182" y="3394044"/>
              <a:ext cx="4384548" cy="678960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346326" y="3427188"/>
              <a:ext cx="4318260" cy="6126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65725" spcFirstLastPara="1" rIns="1657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n-IN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These tools are free and help </a:t>
              </a:r>
              <a:r>
                <a:rPr lang="en-IN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>
            <p:ph type="title"/>
          </p:nvPr>
        </p:nvSpPr>
        <p:spPr>
          <a:xfrm>
            <a:off x="524741" y="620392"/>
            <a:ext cx="3808268" cy="5504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n-IN" sz="6000">
                <a:solidFill>
                  <a:schemeClr val="lt1"/>
                </a:solidFill>
              </a:rPr>
              <a:t>Identifying the target audience </a:t>
            </a:r>
            <a:endParaRPr/>
          </a:p>
        </p:txBody>
      </p:sp>
      <p:grpSp>
        <p:nvGrpSpPr>
          <p:cNvPr id="151" name="Google Shape;151;p5"/>
          <p:cNvGrpSpPr/>
          <p:nvPr/>
        </p:nvGrpSpPr>
        <p:grpSpPr>
          <a:xfrm>
            <a:off x="5468389" y="628790"/>
            <a:ext cx="6263640" cy="5487890"/>
            <a:chOff x="0" y="8398"/>
            <a:chExt cx="6263640" cy="5487890"/>
          </a:xfrm>
        </p:grpSpPr>
        <p:sp>
          <p:nvSpPr>
            <p:cNvPr id="152" name="Google Shape;152;p5"/>
            <p:cNvSpPr/>
            <p:nvPr/>
          </p:nvSpPr>
          <p:spPr>
            <a:xfrm>
              <a:off x="0" y="8398"/>
              <a:ext cx="6263640" cy="993128"/>
            </a:xfrm>
            <a:prstGeom prst="roundRect">
              <a:avLst>
                <a:gd fmla="val 16667" name="adj"/>
              </a:avLst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48481" y="56879"/>
              <a:ext cx="6166678" cy="896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IN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main part is the targeted subscriber list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0" y="1073527"/>
              <a:ext cx="6263640" cy="993128"/>
            </a:xfrm>
            <a:prstGeom prst="roundRect">
              <a:avLst>
                <a:gd fmla="val 16667" name="adj"/>
              </a:avLst>
            </a:prstGeom>
            <a:solidFill>
              <a:srgbClr val="50C9B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48481" y="1122008"/>
              <a:ext cx="6166678" cy="896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IN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 make the same – Use forms 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2066656"/>
              <a:ext cx="6263640" cy="137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 txBox="1"/>
            <p:nvPr/>
          </p:nvSpPr>
          <p:spPr>
            <a:xfrm>
              <a:off x="0" y="2066656"/>
              <a:ext cx="6263640" cy="1371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750" lIns="198850" spcFirstLastPara="1" rIns="177800" wrap="square" tIns="31750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What is your Major problem in Electric Bikes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Why is that a problem ?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How big is the problem for you ?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 you be happy to hear out a solution from us ? </a:t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3438031"/>
              <a:ext cx="6263640" cy="993128"/>
            </a:xfrm>
            <a:prstGeom prst="roundRect">
              <a:avLst>
                <a:gd fmla="val 16667" name="adj"/>
              </a:avLst>
            </a:prstGeom>
            <a:solidFill>
              <a:srgbClr val="48BD6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48481" y="3486512"/>
              <a:ext cx="6166678" cy="896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IN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Collect the Email address and hence we can make the list 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503160"/>
              <a:ext cx="6263640" cy="993128"/>
            </a:xfrm>
            <a:prstGeom prst="roundRect">
              <a:avLst>
                <a:gd fmla="val 16667" name="adj"/>
              </a:avLst>
            </a:prstGeom>
            <a:solidFill>
              <a:srgbClr val="6FAB4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48481" y="4551641"/>
              <a:ext cx="6166678" cy="8961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b="0" i="0" lang="en-IN" sz="2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 get more responses – Facebook groups, LinkedIn Groups can be used </a:t>
              </a:r>
              <a:endParaRPr b="0" i="0" sz="2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09710" y="1022350"/>
            <a:ext cx="709612" cy="2095501"/>
          </a:xfrm>
          <a:custGeom>
            <a:rect b="b" l="l" r="r" t="t"/>
            <a:pathLst>
              <a:path extrusionOk="0" h="1363" w="447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09710" y="837744"/>
            <a:ext cx="403225" cy="1705431"/>
          </a:xfrm>
          <a:custGeom>
            <a:rect b="b" l="l" r="r" t="t"/>
            <a:pathLst>
              <a:path extrusionOk="0" h="1109" w="254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644660" y="640894"/>
            <a:ext cx="168275" cy="1713195"/>
          </a:xfrm>
          <a:custGeom>
            <a:rect b="b" l="l" r="r" t="t"/>
            <a:pathLst>
              <a:path extrusionOk="0" h="1114" w="106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223203" y="635716"/>
            <a:ext cx="328612" cy="1742360"/>
          </a:xfrm>
          <a:custGeom>
            <a:rect b="b" l="l" r="r" t="t"/>
            <a:pathLst>
              <a:path extrusionOk="0" h="1114" w="207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958506" y="800392"/>
            <a:ext cx="10264697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Tactics to attract audience </a:t>
            </a:r>
            <a:endParaRPr/>
          </a:p>
        </p:txBody>
      </p:sp>
      <p:sp>
        <p:nvSpPr>
          <p:cNvPr id="173" name="Google Shape;173;p6"/>
          <p:cNvSpPr txBox="1"/>
          <p:nvPr>
            <p:ph idx="1" type="body"/>
          </p:nvPr>
        </p:nvSpPr>
        <p:spPr>
          <a:xfrm>
            <a:off x="1367624" y="2490436"/>
            <a:ext cx="9708995" cy="35671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Use  a e-mail subject line that 	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Adds Value for the customer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Starts with a number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10 interesting facts about E-Bikes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Are you Energy saver ?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Meet the new “ _______”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Ready to get polarized 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/>
              <a:t>Go for direct ask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Ask famous blog writers to review about the same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80" name="Google Shape;180;p7"/>
            <p:cNvSpPr/>
            <p:nvPr/>
          </p:nvSpPr>
          <p:spPr>
            <a:xfrm>
              <a:off x="11223203" y="635716"/>
              <a:ext cx="328612" cy="1742360"/>
            </a:xfrm>
            <a:custGeom>
              <a:rect b="b" l="l" r="r" t="t"/>
              <a:pathLst>
                <a:path extrusionOk="0" h="1114" w="207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710" y="1022350"/>
              <a:ext cx="709612" cy="2095501"/>
            </a:xfrm>
            <a:custGeom>
              <a:rect b="b" l="l" r="r" t="t"/>
              <a:pathLst>
                <a:path extrusionOk="0" h="1363" w="447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09710" y="837744"/>
              <a:ext cx="403225" cy="1705431"/>
            </a:xfrm>
            <a:custGeom>
              <a:rect b="b" l="l" r="r" t="t"/>
              <a:pathLst>
                <a:path extrusionOk="0" h="1109" w="254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644660" y="640894"/>
              <a:ext cx="168275" cy="1713195"/>
            </a:xfrm>
            <a:custGeom>
              <a:rect b="b" l="l" r="r" t="t"/>
              <a:pathLst>
                <a:path extrusionOk="0" h="1114" w="106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7"/>
          <p:cNvSpPr txBox="1"/>
          <p:nvPr>
            <p:ph type="title"/>
          </p:nvPr>
        </p:nvSpPr>
        <p:spPr>
          <a:xfrm>
            <a:off x="1353666" y="759805"/>
            <a:ext cx="100001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Segmentation of the Email List 	</a:t>
            </a:r>
            <a:endParaRPr/>
          </a:p>
        </p:txBody>
      </p:sp>
      <p:grpSp>
        <p:nvGrpSpPr>
          <p:cNvPr id="186" name="Google Shape;186;p7"/>
          <p:cNvGrpSpPr/>
          <p:nvPr/>
        </p:nvGrpSpPr>
        <p:grpSpPr>
          <a:xfrm>
            <a:off x="1422492" y="2501650"/>
            <a:ext cx="9507777" cy="3711068"/>
            <a:chOff x="0" y="1813"/>
            <a:chExt cx="9507777" cy="3711068"/>
          </a:xfrm>
        </p:grpSpPr>
        <p:sp>
          <p:nvSpPr>
            <p:cNvPr id="187" name="Google Shape;187;p7"/>
            <p:cNvSpPr/>
            <p:nvPr/>
          </p:nvSpPr>
          <p:spPr>
            <a:xfrm rot="5400000">
              <a:off x="5986441" y="-2442115"/>
              <a:ext cx="957695" cy="608497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7D5CB">
                <a:alpha val="89803"/>
              </a:srgbClr>
            </a:solidFill>
            <a:ln cap="flat" cmpd="sng" w="12700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3422801" y="168276"/>
              <a:ext cx="6038226" cy="86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the customers who have the greatest problem.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Provide them with the solutions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0" y="1813"/>
              <a:ext cx="3422800" cy="1197118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 txBox="1"/>
            <p:nvPr/>
          </p:nvSpPr>
          <p:spPr>
            <a:xfrm>
              <a:off x="58438" y="60251"/>
              <a:ext cx="3305924" cy="1080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IN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Divide it based on the complexity of their problem </a:t>
              </a: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 rot="5400000">
              <a:off x="5986441" y="-1185140"/>
              <a:ext cx="957695" cy="608497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EBD6D4">
                <a:alpha val="89803"/>
              </a:srgbClr>
            </a:solidFill>
            <a:ln cap="flat" cmpd="sng" w="12700">
              <a:solidFill>
                <a:srgbClr val="EBD6D4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 txBox="1"/>
            <p:nvPr/>
          </p:nvSpPr>
          <p:spPr>
            <a:xfrm>
              <a:off x="3422801" y="1425251"/>
              <a:ext cx="6038226" cy="86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14.31% higher open rates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100.95% more clicks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9.37% Lesser un-subscriber list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0" y="1258788"/>
              <a:ext cx="3422800" cy="1197118"/>
            </a:xfrm>
            <a:prstGeom prst="roundRect">
              <a:avLst>
                <a:gd fmla="val 16667" name="adj"/>
              </a:avLst>
            </a:prstGeom>
            <a:solidFill>
              <a:srgbClr val="C47F6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58438" y="1317226"/>
              <a:ext cx="3305924" cy="1080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IN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Why do we segment and advantage </a:t>
              </a: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 rot="5400000">
              <a:off x="5986441" y="71833"/>
              <a:ext cx="957695" cy="6084977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FDFDF">
                <a:alpha val="89803"/>
              </a:srgbClr>
            </a:solidFill>
            <a:ln cap="flat" cmpd="sng" w="12700">
              <a:solidFill>
                <a:srgbClr val="DFDFD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 txBox="1"/>
            <p:nvPr/>
          </p:nvSpPr>
          <p:spPr>
            <a:xfrm>
              <a:off x="3422801" y="2682225"/>
              <a:ext cx="6038226" cy="864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50" lIns="45700" spcFirstLastPara="1" rIns="45700" wrap="square" tIns="22850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Company Size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Location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Activity on the website 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alibri"/>
                <a:buChar char="•"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How long one has been on the E-mail List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0" y="2515763"/>
              <a:ext cx="3422800" cy="1197118"/>
            </a:xfrm>
            <a:prstGeom prst="roundRect">
              <a:avLst>
                <a:gd fmla="val 16667" name="adj"/>
              </a:avLst>
            </a:prstGeom>
            <a:solidFill>
              <a:srgbClr val="A4A4A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58438" y="2574201"/>
              <a:ext cx="3305924" cy="10802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IN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After 2 to 3 campaigns, The segmentation depends </a:t>
              </a:r>
              <a:endParaRPr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09710" y="837744"/>
            <a:ext cx="403225" cy="1344168"/>
          </a:xfrm>
          <a:custGeom>
            <a:rect b="b" l="l" r="r" t="t"/>
            <a:pathLst>
              <a:path extrusionOk="0" h="1109" w="254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44660" y="640894"/>
            <a:ext cx="168275" cy="1344168"/>
          </a:xfrm>
          <a:custGeom>
            <a:rect b="b" l="l" r="r" t="t"/>
            <a:pathLst>
              <a:path extrusionOk="0" h="1114" w="106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44055" y="635715"/>
            <a:ext cx="11544897" cy="1179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 txBox="1"/>
          <p:nvPr>
            <p:ph type="title"/>
          </p:nvPr>
        </p:nvSpPr>
        <p:spPr>
          <a:xfrm>
            <a:off x="1047280" y="788894"/>
            <a:ext cx="10306520" cy="88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Choice of Email Templates </a:t>
            </a:r>
            <a:endParaRPr/>
          </a:p>
        </p:txBody>
      </p:sp>
      <p:grpSp>
        <p:nvGrpSpPr>
          <p:cNvPr id="208" name="Google Shape;208;p8"/>
          <p:cNvGrpSpPr/>
          <p:nvPr/>
        </p:nvGrpSpPr>
        <p:grpSpPr>
          <a:xfrm>
            <a:off x="1050434" y="2199289"/>
            <a:ext cx="10089479" cy="4013369"/>
            <a:chOff x="3154" y="9625"/>
            <a:chExt cx="10089479" cy="4013369"/>
          </a:xfrm>
        </p:grpSpPr>
        <p:sp>
          <p:nvSpPr>
            <p:cNvPr id="209" name="Google Shape;209;p8"/>
            <p:cNvSpPr/>
            <p:nvPr/>
          </p:nvSpPr>
          <p:spPr>
            <a:xfrm>
              <a:off x="3154" y="9625"/>
              <a:ext cx="3076060" cy="944459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3154" y="9625"/>
              <a:ext cx="3076060" cy="944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650" lIns="184900" spcFirstLastPara="1" rIns="184900" wrap="square" tIns="105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IN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Newsletters 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3154" y="954085"/>
              <a:ext cx="3076060" cy="3068909"/>
            </a:xfrm>
            <a:prstGeom prst="rect">
              <a:avLst/>
            </a:prstGeom>
            <a:solidFill>
              <a:srgbClr val="F7D5CB">
                <a:alpha val="89803"/>
              </a:srgbClr>
            </a:solidFill>
            <a:ln cap="flat" cmpd="sng" w="12700">
              <a:solidFill>
                <a:srgbClr val="F7D5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3154" y="954085"/>
              <a:ext cx="3076060" cy="3068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Recurring type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Creative and Descriptive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90% Educational Content , 10% Promotional Content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3509864" y="9625"/>
              <a:ext cx="3076060" cy="944459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 txBox="1"/>
            <p:nvPr/>
          </p:nvSpPr>
          <p:spPr>
            <a:xfrm>
              <a:off x="3509864" y="9625"/>
              <a:ext cx="3076060" cy="944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650" lIns="184900" spcFirstLastPara="1" rIns="184900" wrap="square" tIns="105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IN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Automated Drip E-mails 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3509864" y="954085"/>
              <a:ext cx="3076060" cy="3068909"/>
            </a:xfrm>
            <a:prstGeom prst="rect">
              <a:avLst/>
            </a:prstGeom>
            <a:solidFill>
              <a:srgbClr val="E0E0E0">
                <a:alpha val="89803"/>
              </a:srgbClr>
            </a:solidFill>
            <a:ln cap="flat" cmpd="sng" w="12700">
              <a:solidFill>
                <a:srgbClr val="E0E0E0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 txBox="1"/>
            <p:nvPr/>
          </p:nvSpPr>
          <p:spPr>
            <a:xfrm>
              <a:off x="3509864" y="954085"/>
              <a:ext cx="3076060" cy="3068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Based on the interactions with the website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Main Objective – Customers move down to the Marketing Funnel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7016573" y="9625"/>
              <a:ext cx="3076060" cy="944459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7016573" y="9625"/>
              <a:ext cx="3076060" cy="944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5650" lIns="184900" spcFirstLastPara="1" rIns="184900" wrap="square" tIns="105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n-IN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Seasonal and Promotional E-mails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7016573" y="954085"/>
              <a:ext cx="3076060" cy="3068909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cap="flat" cmpd="sng" w="12700">
              <a:solidFill>
                <a:srgbClr val="FFE8C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 txBox="1"/>
            <p:nvPr/>
          </p:nvSpPr>
          <p:spPr>
            <a:xfrm>
              <a:off x="7016573" y="954085"/>
              <a:ext cx="3076060" cy="30689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08025" lIns="138675" spcFirstLastPara="1" rIns="184900" wrap="square" tIns="1386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Great deals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9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Calibri"/>
                <a:buChar char="•"/>
              </a:pPr>
              <a:r>
                <a:rPr b="0" i="0" lang="en-I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Boost sales 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9"/>
          <p:cNvGrpSpPr/>
          <p:nvPr/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27" name="Google Shape;227;p9"/>
            <p:cNvSpPr/>
            <p:nvPr/>
          </p:nvSpPr>
          <p:spPr>
            <a:xfrm>
              <a:off x="11223203" y="635716"/>
              <a:ext cx="328612" cy="1742360"/>
            </a:xfrm>
            <a:custGeom>
              <a:rect b="b" l="l" r="r" t="t"/>
              <a:pathLst>
                <a:path extrusionOk="0" h="1114" w="207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409710" y="1022350"/>
              <a:ext cx="709612" cy="2095501"/>
            </a:xfrm>
            <a:custGeom>
              <a:rect b="b" l="l" r="r" t="t"/>
              <a:pathLst>
                <a:path extrusionOk="0" h="1363" w="447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409710" y="837744"/>
              <a:ext cx="403225" cy="1705431"/>
            </a:xfrm>
            <a:custGeom>
              <a:rect b="b" l="l" r="r" t="t"/>
              <a:pathLst>
                <a:path extrusionOk="0" h="1109" w="254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644660" y="640894"/>
              <a:ext cx="168275" cy="1713195"/>
            </a:xfrm>
            <a:custGeom>
              <a:rect b="b" l="l" r="r" t="t"/>
              <a:pathLst>
                <a:path extrusionOk="0" h="1114" w="106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9"/>
          <p:cNvSpPr txBox="1"/>
          <p:nvPr>
            <p:ph type="title"/>
          </p:nvPr>
        </p:nvSpPr>
        <p:spPr>
          <a:xfrm>
            <a:off x="1047280" y="759805"/>
            <a:ext cx="103065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Mobile Friendly E-mails </a:t>
            </a:r>
            <a:endParaRPr/>
          </a:p>
        </p:txBody>
      </p:sp>
      <p:sp>
        <p:nvSpPr>
          <p:cNvPr id="233" name="Google Shape;233;p9"/>
          <p:cNvSpPr txBox="1"/>
          <p:nvPr>
            <p:ph idx="1" type="body"/>
          </p:nvPr>
        </p:nvSpPr>
        <p:spPr>
          <a:xfrm>
            <a:off x="1424904" y="2494450"/>
            <a:ext cx="4053545" cy="3563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55 % Content read on Mobile – Mobile Friendly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Short Subject lines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Use Single Column Templates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Keep it at 600x Wide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Large Font Size – 13 to 14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Display Small Images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Distinct CTA ( Don’t CTA a Image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/>
              <a:t>Test on multiple devices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Document"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8408" y="2492376"/>
            <a:ext cx="3563372" cy="3563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0" name="Google Shape;240;p10"/>
          <p:cNvGrpSpPr/>
          <p:nvPr/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41" name="Google Shape;241;p10"/>
            <p:cNvSpPr/>
            <p:nvPr/>
          </p:nvSpPr>
          <p:spPr>
            <a:xfrm>
              <a:off x="11223203" y="635716"/>
              <a:ext cx="328612" cy="1742360"/>
            </a:xfrm>
            <a:custGeom>
              <a:rect b="b" l="l" r="r" t="t"/>
              <a:pathLst>
                <a:path extrusionOk="0" h="1114" w="207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409710" y="1022350"/>
              <a:ext cx="709612" cy="2095501"/>
            </a:xfrm>
            <a:custGeom>
              <a:rect b="b" l="l" r="r" t="t"/>
              <a:pathLst>
                <a:path extrusionOk="0" h="1363" w="447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409710" y="837744"/>
              <a:ext cx="403225" cy="1705431"/>
            </a:xfrm>
            <a:custGeom>
              <a:rect b="b" l="l" r="r" t="t"/>
              <a:pathLst>
                <a:path extrusionOk="0" h="1109" w="254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644660" y="640894"/>
              <a:ext cx="168275" cy="1713195"/>
            </a:xfrm>
            <a:custGeom>
              <a:rect b="b" l="l" r="r" t="t"/>
              <a:pathLst>
                <a:path extrusionOk="0" h="1114" w="106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0"/>
          <p:cNvSpPr txBox="1"/>
          <p:nvPr>
            <p:ph type="title"/>
          </p:nvPr>
        </p:nvSpPr>
        <p:spPr>
          <a:xfrm>
            <a:off x="1353666" y="759805"/>
            <a:ext cx="100001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Personalizing the E-Mail Content </a:t>
            </a:r>
            <a:endParaRPr/>
          </a:p>
        </p:txBody>
      </p:sp>
      <p:grpSp>
        <p:nvGrpSpPr>
          <p:cNvPr id="247" name="Google Shape;247;p10"/>
          <p:cNvGrpSpPr/>
          <p:nvPr/>
        </p:nvGrpSpPr>
        <p:grpSpPr>
          <a:xfrm>
            <a:off x="1903029" y="2501650"/>
            <a:ext cx="8546703" cy="3711069"/>
            <a:chOff x="480537" y="1813"/>
            <a:chExt cx="8546703" cy="3711069"/>
          </a:xfrm>
        </p:grpSpPr>
        <p:sp>
          <p:nvSpPr>
            <p:cNvPr id="248" name="Google Shape;248;p10"/>
            <p:cNvSpPr/>
            <p:nvPr/>
          </p:nvSpPr>
          <p:spPr>
            <a:xfrm>
              <a:off x="480537" y="1813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0"/>
            <p:cNvSpPr txBox="1"/>
            <p:nvPr/>
          </p:nvSpPr>
          <p:spPr>
            <a:xfrm>
              <a:off x="513474" y="34750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Personalised emails receive 25% more opens 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480537" y="1295064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0"/>
            <p:cNvSpPr txBox="1"/>
            <p:nvPr/>
          </p:nvSpPr>
          <p:spPr>
            <a:xfrm>
              <a:off x="513474" y="1328001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 to do it ? 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 rot="-3310531">
              <a:off x="2391798" y="1183476"/>
              <a:ext cx="1575396" cy="5449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0"/>
            <p:cNvSpPr txBox="1"/>
            <p:nvPr/>
          </p:nvSpPr>
          <p:spPr>
            <a:xfrm rot="-3310531">
              <a:off x="3140111" y="1171337"/>
              <a:ext cx="78769" cy="78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3629322" y="1813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0"/>
            <p:cNvSpPr txBox="1"/>
            <p:nvPr/>
          </p:nvSpPr>
          <p:spPr>
            <a:xfrm>
              <a:off x="3662259" y="34750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Include the name in the Subject list 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0"/>
            <p:cNvSpPr/>
            <p:nvPr/>
          </p:nvSpPr>
          <p:spPr>
            <a:xfrm>
              <a:off x="2729669" y="1830101"/>
              <a:ext cx="899652" cy="5449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0"/>
            <p:cNvSpPr txBox="1"/>
            <p:nvPr/>
          </p:nvSpPr>
          <p:spPr>
            <a:xfrm>
              <a:off x="3157005" y="1834856"/>
              <a:ext cx="44982" cy="44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3629322" y="1295064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0"/>
            <p:cNvSpPr txBox="1"/>
            <p:nvPr/>
          </p:nvSpPr>
          <p:spPr>
            <a:xfrm>
              <a:off x="3662259" y="1328001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 them directly in their mail 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3310531">
              <a:off x="2391798" y="2476727"/>
              <a:ext cx="1575396" cy="5449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0"/>
            <p:cNvSpPr txBox="1"/>
            <p:nvPr/>
          </p:nvSpPr>
          <p:spPr>
            <a:xfrm rot="3310531">
              <a:off x="3140111" y="2464588"/>
              <a:ext cx="78769" cy="78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3629322" y="2588316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0"/>
            <p:cNvSpPr txBox="1"/>
            <p:nvPr/>
          </p:nvSpPr>
          <p:spPr>
            <a:xfrm>
              <a:off x="3662259" y="2621253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 In previous purchase information 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5878455" y="3123353"/>
              <a:ext cx="899652" cy="54492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0"/>
            <p:cNvSpPr txBox="1"/>
            <p:nvPr/>
          </p:nvSpPr>
          <p:spPr>
            <a:xfrm>
              <a:off x="6305790" y="3128107"/>
              <a:ext cx="44982" cy="44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6778108" y="2588316"/>
              <a:ext cx="2249132" cy="1124566"/>
            </a:xfrm>
            <a:prstGeom prst="roundRect">
              <a:avLst>
                <a:gd fmla="val 10000" name="adj"/>
              </a:avLst>
            </a:prstGeom>
            <a:solidFill>
              <a:srgbClr val="4372C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0"/>
            <p:cNvSpPr txBox="1"/>
            <p:nvPr/>
          </p:nvSpPr>
          <p:spPr>
            <a:xfrm>
              <a:off x="6811045" y="2621253"/>
              <a:ext cx="2183258" cy="1058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25" lIns="11425" spcFirstLastPara="1" rIns="11425" wrap="square" tIns="1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lang="en-IN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“Since you have brought this, we thought you will like this too”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Analytics </a:t>
            </a:r>
            <a:endParaRPr/>
          </a:p>
        </p:txBody>
      </p:sp>
      <p:grpSp>
        <p:nvGrpSpPr>
          <p:cNvPr id="273" name="Google Shape;273;p11"/>
          <p:cNvGrpSpPr/>
          <p:nvPr/>
        </p:nvGrpSpPr>
        <p:grpSpPr>
          <a:xfrm>
            <a:off x="838200" y="1826156"/>
            <a:ext cx="10515600" cy="4350274"/>
            <a:chOff x="0" y="531"/>
            <a:chExt cx="10515600" cy="4350274"/>
          </a:xfrm>
        </p:grpSpPr>
        <p:cxnSp>
          <p:nvCxnSpPr>
            <p:cNvPr id="274" name="Google Shape;274;p11"/>
            <p:cNvCxnSpPr/>
            <p:nvPr/>
          </p:nvCxnSpPr>
          <p:spPr>
            <a:xfrm>
              <a:off x="0" y="531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5" name="Google Shape;275;p11"/>
            <p:cNvSpPr/>
            <p:nvPr/>
          </p:nvSpPr>
          <p:spPr>
            <a:xfrm>
              <a:off x="0" y="531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0" y="531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E-mail opens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" name="Google Shape;277;p11"/>
            <p:cNvCxnSpPr/>
            <p:nvPr/>
          </p:nvCxnSpPr>
          <p:spPr>
            <a:xfrm>
              <a:off x="0" y="483895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8" name="Google Shape;278;p11"/>
            <p:cNvSpPr/>
            <p:nvPr/>
          </p:nvSpPr>
          <p:spPr>
            <a:xfrm>
              <a:off x="0" y="483895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1"/>
            <p:cNvSpPr txBox="1"/>
            <p:nvPr/>
          </p:nvSpPr>
          <p:spPr>
            <a:xfrm>
              <a:off x="0" y="483895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E-mail deliveries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0" name="Google Shape;280;p11"/>
            <p:cNvCxnSpPr/>
            <p:nvPr/>
          </p:nvCxnSpPr>
          <p:spPr>
            <a:xfrm>
              <a:off x="0" y="967259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1" name="Google Shape;281;p11"/>
            <p:cNvSpPr/>
            <p:nvPr/>
          </p:nvSpPr>
          <p:spPr>
            <a:xfrm>
              <a:off x="0" y="967259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 txBox="1"/>
            <p:nvPr/>
          </p:nvSpPr>
          <p:spPr>
            <a:xfrm>
              <a:off x="0" y="967259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Unsubscribers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" name="Google Shape;283;p11"/>
            <p:cNvCxnSpPr/>
            <p:nvPr/>
          </p:nvCxnSpPr>
          <p:spPr>
            <a:xfrm>
              <a:off x="0" y="1450623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4" name="Google Shape;284;p11"/>
            <p:cNvSpPr/>
            <p:nvPr/>
          </p:nvSpPr>
          <p:spPr>
            <a:xfrm>
              <a:off x="0" y="1450623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1"/>
            <p:cNvSpPr txBox="1"/>
            <p:nvPr/>
          </p:nvSpPr>
          <p:spPr>
            <a:xfrm>
              <a:off x="0" y="1450623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 Subscribes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6" name="Google Shape;286;p11"/>
            <p:cNvCxnSpPr/>
            <p:nvPr/>
          </p:nvCxnSpPr>
          <p:spPr>
            <a:xfrm>
              <a:off x="0" y="1933987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87" name="Google Shape;287;p11"/>
            <p:cNvSpPr/>
            <p:nvPr/>
          </p:nvSpPr>
          <p:spPr>
            <a:xfrm>
              <a:off x="0" y="1933987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1"/>
            <p:cNvSpPr txBox="1"/>
            <p:nvPr/>
          </p:nvSpPr>
          <p:spPr>
            <a:xfrm>
              <a:off x="0" y="1933987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Click Through rates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" name="Google Shape;289;p11"/>
            <p:cNvCxnSpPr/>
            <p:nvPr/>
          </p:nvCxnSpPr>
          <p:spPr>
            <a:xfrm>
              <a:off x="0" y="2417350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0" name="Google Shape;290;p11"/>
            <p:cNvSpPr/>
            <p:nvPr/>
          </p:nvSpPr>
          <p:spPr>
            <a:xfrm>
              <a:off x="0" y="2417350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1"/>
            <p:cNvSpPr txBox="1"/>
            <p:nvPr/>
          </p:nvSpPr>
          <p:spPr>
            <a:xfrm>
              <a:off x="0" y="2417350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A/B Test Results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2" name="Google Shape;292;p11"/>
            <p:cNvCxnSpPr/>
            <p:nvPr/>
          </p:nvCxnSpPr>
          <p:spPr>
            <a:xfrm>
              <a:off x="0" y="2900714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3" name="Google Shape;293;p11"/>
            <p:cNvSpPr/>
            <p:nvPr/>
          </p:nvSpPr>
          <p:spPr>
            <a:xfrm>
              <a:off x="0" y="2900714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 txBox="1"/>
            <p:nvPr/>
          </p:nvSpPr>
          <p:spPr>
            <a:xfrm>
              <a:off x="0" y="2900714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ROI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5" name="Google Shape;295;p11"/>
            <p:cNvCxnSpPr/>
            <p:nvPr/>
          </p:nvCxnSpPr>
          <p:spPr>
            <a:xfrm>
              <a:off x="0" y="3384078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6" name="Google Shape;296;p11"/>
            <p:cNvSpPr/>
            <p:nvPr/>
          </p:nvSpPr>
          <p:spPr>
            <a:xfrm>
              <a:off x="0" y="3384078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1"/>
            <p:cNvSpPr txBox="1"/>
            <p:nvPr/>
          </p:nvSpPr>
          <p:spPr>
            <a:xfrm>
              <a:off x="0" y="3384078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 spent on the email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8" name="Google Shape;298;p11"/>
            <p:cNvCxnSpPr/>
            <p:nvPr/>
          </p:nvCxnSpPr>
          <p:spPr>
            <a:xfrm>
              <a:off x="0" y="3867442"/>
              <a:ext cx="10515600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9" name="Google Shape;299;p11"/>
            <p:cNvSpPr/>
            <p:nvPr/>
          </p:nvSpPr>
          <p:spPr>
            <a:xfrm>
              <a:off x="0" y="3867442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 txBox="1"/>
            <p:nvPr/>
          </p:nvSpPr>
          <p:spPr>
            <a:xfrm>
              <a:off x="0" y="3867442"/>
              <a:ext cx="10515600" cy="483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lang="en-IN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Email Bounces </a:t>
              </a:r>
              <a:endPara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 flipH="1">
            <a:off x="842688" y="1766812"/>
            <a:ext cx="822493" cy="4232692"/>
          </a:xfrm>
          <a:custGeom>
            <a:rect b="b" l="l" r="r" t="t"/>
            <a:pathLst>
              <a:path extrusionOk="0" h="2732" w="491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 flipH="1">
            <a:off x="842689" y="1423780"/>
            <a:ext cx="687754" cy="3820236"/>
          </a:xfrm>
          <a:custGeom>
            <a:rect b="b" l="l" r="r" t="t"/>
            <a:pathLst>
              <a:path extrusionOk="0" h="2447" w="414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rgbClr val="2F54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 flipH="1">
            <a:off x="1183243" y="1239381"/>
            <a:ext cx="347200" cy="3699705"/>
          </a:xfrm>
          <a:custGeom>
            <a:rect b="b" l="l" r="r" t="t"/>
            <a:pathLst>
              <a:path extrusionOk="0" h="2358" w="209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 flipH="1">
            <a:off x="1183242" y="1230651"/>
            <a:ext cx="1020865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 txBox="1"/>
          <p:nvPr>
            <p:ph type="ctrTitle"/>
          </p:nvPr>
        </p:nvSpPr>
        <p:spPr>
          <a:xfrm>
            <a:off x="1870997" y="1607809"/>
            <a:ext cx="9236026" cy="28766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IN" sz="6600">
                <a:solidFill>
                  <a:srgbClr val="FFFFFF"/>
                </a:solidFill>
              </a:rPr>
              <a:t>Thankyou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2021-07-11T12:40:04Z</dcterms:created>
  <dc:creator>PADHMAJA K</dc:creator>
</cp:coreProperties>
</file>