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10287000" cx="18288000"/>
  <p:notesSz cx="6858000" cy="9144000"/>
  <p:embeddedFontLst>
    <p:embeddedFont>
      <p:font typeface="Poppins"/>
      <p:bold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i30oI3FNRTOtHxHy5o55bOYV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F29A36-DAC7-4414-8D95-D206205A8C86}">
  <a:tblStyle styleId="{46F29A36-DAC7-4414-8D95-D206205A8C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oppins-bold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Medium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hyperlink" Target="https://publicholidays.in/durga-puja/" TargetMode="External"/><Relationship Id="rId22" Type="http://schemas.openxmlformats.org/officeDocument/2006/relationships/hyperlink" Target="https://publicholidays.in/milad-un-nabi/" TargetMode="External"/><Relationship Id="rId21" Type="http://schemas.openxmlformats.org/officeDocument/2006/relationships/hyperlink" Target="https://publicholidays.in/durga-puja/" TargetMode="External"/><Relationship Id="rId24" Type="http://schemas.openxmlformats.org/officeDocument/2006/relationships/hyperlink" Target="https://publicholidays.in/diwali-deepavali/" TargetMode="External"/><Relationship Id="rId23" Type="http://schemas.openxmlformats.org/officeDocument/2006/relationships/hyperlink" Target="https://publicholidays.in/maharishi-valmiki-jayanti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hyperlink" Target="https://publicholidays.in/makara-sankranti/" TargetMode="External"/><Relationship Id="rId9" Type="http://schemas.openxmlformats.org/officeDocument/2006/relationships/hyperlink" Target="https://publicholidays.in/dr-ambedkar-jayanti/" TargetMode="External"/><Relationship Id="rId26" Type="http://schemas.openxmlformats.org/officeDocument/2006/relationships/hyperlink" Target="https://publicholidays.in/christmas/" TargetMode="External"/><Relationship Id="rId25" Type="http://schemas.openxmlformats.org/officeDocument/2006/relationships/hyperlink" Target="https://publicholidays.in/diwali-deepavali/" TargetMode="External"/><Relationship Id="rId5" Type="http://schemas.openxmlformats.org/officeDocument/2006/relationships/hyperlink" Target="https://publicholidays.in/republic-day/" TargetMode="External"/><Relationship Id="rId6" Type="http://schemas.openxmlformats.org/officeDocument/2006/relationships/hyperlink" Target="https://publicholidays.in/maha-shivaratri/" TargetMode="External"/><Relationship Id="rId7" Type="http://schemas.openxmlformats.org/officeDocument/2006/relationships/hyperlink" Target="https://publicholidays.in/easter/" TargetMode="External"/><Relationship Id="rId8" Type="http://schemas.openxmlformats.org/officeDocument/2006/relationships/hyperlink" Target="https://publicholidays.in/ugadi/" TargetMode="External"/><Relationship Id="rId11" Type="http://schemas.openxmlformats.org/officeDocument/2006/relationships/hyperlink" Target="https://publicholidays.in/may-day/" TargetMode="External"/><Relationship Id="rId10" Type="http://schemas.openxmlformats.org/officeDocument/2006/relationships/hyperlink" Target="https://publicholidays.in/mahavir-jayanti/" TargetMode="External"/><Relationship Id="rId13" Type="http://schemas.openxmlformats.org/officeDocument/2006/relationships/hyperlink" Target="https://publicholidays.in/basava-jayanti/" TargetMode="External"/><Relationship Id="rId12" Type="http://schemas.openxmlformats.org/officeDocument/2006/relationships/hyperlink" Target="https://publicholidays.in/ramazan-idul-fitr/" TargetMode="External"/><Relationship Id="rId15" Type="http://schemas.openxmlformats.org/officeDocument/2006/relationships/hyperlink" Target="https://publicholidays.in/independence-day/" TargetMode="External"/><Relationship Id="rId14" Type="http://schemas.openxmlformats.org/officeDocument/2006/relationships/hyperlink" Target="https://publicholidays.in/bakrid-idul-zuha/" TargetMode="External"/><Relationship Id="rId17" Type="http://schemas.openxmlformats.org/officeDocument/2006/relationships/hyperlink" Target="https://publicholidays.in/ganesh-chaturthi/" TargetMode="External"/><Relationship Id="rId16" Type="http://schemas.openxmlformats.org/officeDocument/2006/relationships/hyperlink" Target="https://publicholidays.in/muharram/" TargetMode="External"/><Relationship Id="rId19" Type="http://schemas.openxmlformats.org/officeDocument/2006/relationships/hyperlink" Target="https://publicholidays.in/mahalaya-amavasye/" TargetMode="External"/><Relationship Id="rId18" Type="http://schemas.openxmlformats.org/officeDocument/2006/relationships/hyperlink" Target="https://publicholidays.in/mahatma-gandhis-birthday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0.jp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96590" y="1388078"/>
            <a:ext cx="9571694" cy="813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-318871" y="9402612"/>
            <a:ext cx="18925742" cy="115010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"/>
          <p:cNvGrpSpPr/>
          <p:nvPr/>
        </p:nvGrpSpPr>
        <p:grpSpPr>
          <a:xfrm>
            <a:off x="1028699" y="1797539"/>
            <a:ext cx="8593878" cy="4207797"/>
            <a:chOff x="0" y="1025119"/>
            <a:chExt cx="11458505" cy="5610396"/>
          </a:xfrm>
        </p:grpSpPr>
        <p:pic>
          <p:nvPicPr>
            <p:cNvPr id="103" name="Google Shape;10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6282768"/>
              <a:ext cx="2612943" cy="352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"/>
            <p:cNvSpPr txBox="1"/>
            <p:nvPr/>
          </p:nvSpPr>
          <p:spPr>
            <a:xfrm>
              <a:off x="1" y="1025119"/>
              <a:ext cx="11458504" cy="4310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4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9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POLARITY </a:t>
              </a:r>
              <a:endParaRPr/>
            </a:p>
            <a:p>
              <a:pPr indent="0" lvl="0" marL="0" marR="0" rtl="0" algn="l">
                <a:lnSpc>
                  <a:spcPct val="1354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9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E-BIKES </a:t>
              </a:r>
              <a:endParaRPr b="1" i="0" sz="9999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5" name="Google Shape;105;p1"/>
          <p:cNvSpPr txBox="1"/>
          <p:nvPr/>
        </p:nvSpPr>
        <p:spPr>
          <a:xfrm>
            <a:off x="1028700" y="8134074"/>
            <a:ext cx="85938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FAFBFB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PREPARED BY PADHMAJA K, IIM RAIPUR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24529" r="26641" t="0"/>
          <a:stretch/>
        </p:blipFill>
        <p:spPr>
          <a:xfrm>
            <a:off x="10832979" y="-233462"/>
            <a:ext cx="7896088" cy="107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10602415" y="-271421"/>
            <a:ext cx="230565" cy="10829843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IN" sz="8000">
                <a:solidFill>
                  <a:schemeClr val="lt1"/>
                </a:solidFill>
              </a:rPr>
              <a:t>BENGALURU</a:t>
            </a:r>
            <a:endParaRPr sz="8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F6128"/>
            </a:gs>
            <a:gs pos="83000">
              <a:srgbClr val="AEC5E1"/>
            </a:gs>
            <a:gs pos="85000">
              <a:srgbClr val="AEC5E1"/>
            </a:gs>
            <a:gs pos="98000">
              <a:srgbClr val="C8D8EB"/>
            </a:gs>
            <a:gs pos="100000">
              <a:srgbClr val="C8D8EB"/>
            </a:gs>
          </a:gsLst>
          <a:lin ang="2700000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 of Bangalore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999" y="1617728"/>
            <a:ext cx="8817062" cy="6622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galore Map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39" y="803278"/>
            <a:ext cx="8325161" cy="825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1114425" y="6477000"/>
            <a:ext cx="7867650" cy="27813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305925" y="6477000"/>
            <a:ext cx="7867650" cy="27813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114425" y="3390900"/>
            <a:ext cx="7867650" cy="27813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9305925" y="3390900"/>
            <a:ext cx="7867650" cy="27813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-204992" y="-322658"/>
            <a:ext cx="18697984" cy="2820335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114425" y="802644"/>
            <a:ext cx="117824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5500" u="none" cap="none" strike="noStrike">
                <a:solidFill>
                  <a:srgbClr val="2223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DEALERSHIP LOCATIONS</a:t>
            </a:r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1480776" y="3728976"/>
            <a:ext cx="7037528" cy="1101985"/>
            <a:chOff x="0" y="-38100"/>
            <a:chExt cx="9383371" cy="1469314"/>
          </a:xfrm>
        </p:grpSpPr>
        <p:sp>
          <p:nvSpPr>
            <p:cNvPr id="130" name="Google Shape;130;p4"/>
            <p:cNvSpPr txBox="1"/>
            <p:nvPr/>
          </p:nvSpPr>
          <p:spPr>
            <a:xfrm>
              <a:off x="0" y="-38100"/>
              <a:ext cx="9383371" cy="752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3400" u="none" cap="none" strike="noStrike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MAJESTIC</a:t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856698"/>
              <a:ext cx="9383371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Rs2321-Rs30000/sq.ft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4"/>
          <p:cNvGrpSpPr/>
          <p:nvPr/>
        </p:nvGrpSpPr>
        <p:grpSpPr>
          <a:xfrm>
            <a:off x="9720986" y="3728976"/>
            <a:ext cx="7037528" cy="1101985"/>
            <a:chOff x="0" y="-38100"/>
            <a:chExt cx="9383371" cy="1469314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0" y="-38100"/>
              <a:ext cx="9383371" cy="752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400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JAYA NAGAR</a:t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0" y="856698"/>
              <a:ext cx="9383371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Rs17000-Rs25000/sq.ft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9720986" y="6804417"/>
            <a:ext cx="7037528" cy="1101985"/>
            <a:chOff x="0" y="-38100"/>
            <a:chExt cx="9383371" cy="1469314"/>
          </a:xfrm>
        </p:grpSpPr>
        <p:sp>
          <p:nvSpPr>
            <p:cNvPr id="136" name="Google Shape;136;p4"/>
            <p:cNvSpPr txBox="1"/>
            <p:nvPr/>
          </p:nvSpPr>
          <p:spPr>
            <a:xfrm>
              <a:off x="0" y="-38100"/>
              <a:ext cx="9383371" cy="752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400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SHIVAJI NAGAR (2</a:t>
              </a:r>
              <a:r>
                <a:rPr b="1" baseline="30000" lang="en-IN" sz="3400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ND</a:t>
              </a:r>
              <a:r>
                <a:rPr b="1" lang="en-IN" sz="3400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 HAND)</a:t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0" y="856698"/>
              <a:ext cx="9383371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Rs8000- Rs 10000/sq.ft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1480776" y="6804417"/>
            <a:ext cx="7037528" cy="1101985"/>
            <a:chOff x="0" y="-38100"/>
            <a:chExt cx="9383371" cy="1469314"/>
          </a:xfrm>
        </p:grpSpPr>
        <p:sp>
          <p:nvSpPr>
            <p:cNvPr id="139" name="Google Shape;139;p4"/>
            <p:cNvSpPr txBox="1"/>
            <p:nvPr/>
          </p:nvSpPr>
          <p:spPr>
            <a:xfrm>
              <a:off x="0" y="-38100"/>
              <a:ext cx="9383371" cy="752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400">
                  <a:solidFill>
                    <a:srgbClr val="222321"/>
                  </a:solidFill>
                  <a:latin typeface="Poppins"/>
                  <a:ea typeface="Poppins"/>
                  <a:cs typeface="Poppins"/>
                  <a:sym typeface="Poppins"/>
                </a:rPr>
                <a:t>JC ROAD</a:t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856698"/>
              <a:ext cx="9383371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Closest Rs. 2000/sq.ft (Mysore Road )</a:t>
              </a:r>
              <a:endParaRPr/>
            </a:p>
          </p:txBody>
        </p:sp>
      </p:grp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472100" y="546692"/>
            <a:ext cx="2701475" cy="2296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10515600" y="193645"/>
            <a:ext cx="43434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price / sq.ft = Rs. 4023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places are chosen by dividing the city into four major regions for better reach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B56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1028700" y="2924881"/>
            <a:ext cx="5595055" cy="95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6000">
                <a:solidFill>
                  <a:srgbClr val="222321"/>
                </a:solidFill>
                <a:latin typeface="Poppins"/>
                <a:ea typeface="Poppins"/>
                <a:cs typeface="Poppins"/>
                <a:sym typeface="Poppins"/>
              </a:rPr>
              <a:t>Main Festivals </a:t>
            </a:r>
            <a:endParaRPr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39949" l="0" r="0" t="39950"/>
          <a:stretch/>
        </p:blipFill>
        <p:spPr>
          <a:xfrm>
            <a:off x="-270248" y="-229629"/>
            <a:ext cx="18828496" cy="251665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-167032" y="2287029"/>
            <a:ext cx="18622064" cy="182133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997825" y="3872802"/>
            <a:ext cx="5656804" cy="6207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Deepavalli 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Sankranti 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Ugadi 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Ganesh Chaturdi 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Marriage season – Feb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festivals of Deepavalli and Sankranti – people get bonus 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2 festivals -  workers like flower sellers etc. earn more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5"/>
          <p:cNvGraphicFramePr/>
          <p:nvPr/>
        </p:nvGraphicFramePr>
        <p:xfrm>
          <a:off x="9601200" y="2527374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DAE5F1"/>
                </a:solidFill>
                <a:tableStyleId>{46F29A36-DAC7-4414-8D95-D206205A8C86}</a:tableStyleId>
              </a:tblPr>
              <a:tblGrid>
                <a:gridCol w="1734300"/>
                <a:gridCol w="2374175"/>
                <a:gridCol w="3816325"/>
              </a:tblGrid>
              <a:tr h="32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dk1"/>
                          </a:solidFill>
                        </a:rPr>
                        <a:t>DATE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875" marB="68875" marR="68875" marL="68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dk1"/>
                          </a:solidFill>
                        </a:rPr>
                        <a:t>DAY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875" marB="68875" marR="68875" marL="68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dk1"/>
                          </a:solidFill>
                        </a:rPr>
                        <a:t>HOLIDAY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8875" marB="68875" marR="68875" marL="68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14-Jan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Makara Sankranti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26-Jan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Tue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Republic 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11-Mar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Maha Shivaratri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02-Apr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Fri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Good Friday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13-Apr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Tue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Ugadi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14-Apr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Wed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Dr Ambedkar Jayanti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25-Apr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Sun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Mahavir Jayanti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01-May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Sat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May 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13-May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Idul Fitr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14-May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>
                          <a:solidFill>
                            <a:schemeClr val="dk1"/>
                          </a:solidFill>
                        </a:rPr>
                        <a:t>Fri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Basava Jayanti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20-Jul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Tue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Bakrid / Eid al Adha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15-Aug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Sun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Independence 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19-Aug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Muharram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10-Sep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Fri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Ganesh Chaturthi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02-Oct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Sat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Gandhi Jayanti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06-Oct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Wed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Mahalaya Amavasye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14-Oct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Maha Navami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15-Oct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Fri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Vijaya Dashami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19-Oct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Tue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Eid e Milad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20-Oct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Wed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Maharishi Valmiki Jayanti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01-Nov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Mon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Kannada Rajyothsava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04-Nov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Thu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Diwali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05-Nov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Fri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Deepavali Holiday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25-Dec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dk1"/>
                          </a:solidFill>
                        </a:rPr>
                        <a:t>Sat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sng" cap="none" strike="noStrike">
                          <a:solidFill>
                            <a:schemeClr val="dk1"/>
                          </a:solidFill>
                          <a:hlinkClick r:id="rId2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Christmas Day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50" marB="45925" marR="4150" marL="4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3F3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24529" r="26641" t="0"/>
          <a:stretch/>
        </p:blipFill>
        <p:spPr>
          <a:xfrm>
            <a:off x="10832979" y="-233462"/>
            <a:ext cx="7896088" cy="1075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10602415" y="-271421"/>
            <a:ext cx="230565" cy="10829843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914400" y="3340099"/>
            <a:ext cx="8878887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IN" sz="12500"/>
              <a:t>CHENNAI</a:t>
            </a:r>
            <a:endParaRPr sz="1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se map of Chennai city.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183" y="0"/>
            <a:ext cx="14775872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13106400" y="7810500"/>
            <a:ext cx="3449783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divisions , at each region one place is chosen for dealership based on proximity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-204992" y="-170819"/>
            <a:ext cx="18697984" cy="266849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1114425" y="802644"/>
            <a:ext cx="117824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DEALERSHIP LOCATIONS</a:t>
            </a:r>
            <a:endParaRPr/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472100" y="546692"/>
            <a:ext cx="2701475" cy="2296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8"/>
          <p:cNvGrpSpPr/>
          <p:nvPr/>
        </p:nvGrpSpPr>
        <p:grpSpPr>
          <a:xfrm>
            <a:off x="1029699" y="3543428"/>
            <a:ext cx="7469626" cy="1136413"/>
            <a:chOff x="1332" y="-38100"/>
            <a:chExt cx="9959501" cy="1515218"/>
          </a:xfrm>
        </p:grpSpPr>
        <p:sp>
          <p:nvSpPr>
            <p:cNvPr id="173" name="Google Shape;173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ANNA NAGAR </a:t>
              </a:r>
              <a:endParaRPr/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Rs2399-Rs.23611/sq.ft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1018810" y="5598227"/>
            <a:ext cx="7469626" cy="1136413"/>
            <a:chOff x="1332" y="-38100"/>
            <a:chExt cx="9959501" cy="1515218"/>
          </a:xfrm>
        </p:grpSpPr>
        <p:sp>
          <p:nvSpPr>
            <p:cNvPr id="177" name="Google Shape;177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T NAGAR </a:t>
              </a:r>
              <a:endParaRPr/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Rs3700-Rs. 28846/sq.ft </a:t>
              </a:r>
              <a:endParaRPr/>
            </a:p>
          </p:txBody>
        </p:sp>
      </p:grpSp>
      <p:grpSp>
        <p:nvGrpSpPr>
          <p:cNvPr id="180" name="Google Shape;180;p8"/>
          <p:cNvGrpSpPr/>
          <p:nvPr/>
        </p:nvGrpSpPr>
        <p:grpSpPr>
          <a:xfrm>
            <a:off x="1018811" y="7516709"/>
            <a:ext cx="7469626" cy="1136413"/>
            <a:chOff x="1332" y="-38100"/>
            <a:chExt cx="9959501" cy="1515218"/>
          </a:xfrm>
        </p:grpSpPr>
        <p:sp>
          <p:nvSpPr>
            <p:cNvPr id="181" name="Google Shape;181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ADYAR </a:t>
              </a:r>
              <a:endParaRPr/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Rs.4166-Rs.23913/sq.ft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8"/>
          <p:cNvGrpSpPr/>
          <p:nvPr/>
        </p:nvGrpSpPr>
        <p:grpSpPr>
          <a:xfrm>
            <a:off x="9703949" y="3543428"/>
            <a:ext cx="7469626" cy="1136413"/>
            <a:chOff x="1332" y="-38100"/>
            <a:chExt cx="9959501" cy="1515218"/>
          </a:xfrm>
        </p:grpSpPr>
        <p:sp>
          <p:nvSpPr>
            <p:cNvPr id="185" name="Google Shape;185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EGMORE </a:t>
              </a:r>
              <a:endParaRPr/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Rs.3700-Rs.25000/sq.ft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"/>
          <p:cNvGrpSpPr/>
          <p:nvPr/>
        </p:nvGrpSpPr>
        <p:grpSpPr>
          <a:xfrm>
            <a:off x="9704948" y="5575458"/>
            <a:ext cx="7469626" cy="1136413"/>
            <a:chOff x="1332" y="-38100"/>
            <a:chExt cx="9959501" cy="1515218"/>
          </a:xfrm>
        </p:grpSpPr>
        <p:sp>
          <p:nvSpPr>
            <p:cNvPr id="189" name="Google Shape;189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KK NAGAR </a:t>
              </a:r>
              <a:endParaRPr/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Rs.3700-Rs.15243/sq.ft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8"/>
          <p:cNvGrpSpPr/>
          <p:nvPr/>
        </p:nvGrpSpPr>
        <p:grpSpPr>
          <a:xfrm>
            <a:off x="9661113" y="7487740"/>
            <a:ext cx="7469626" cy="1136413"/>
            <a:chOff x="1332" y="-38100"/>
            <a:chExt cx="9959501" cy="1515218"/>
          </a:xfrm>
        </p:grpSpPr>
        <p:sp>
          <p:nvSpPr>
            <p:cNvPr id="193" name="Google Shape;193;p8"/>
            <p:cNvSpPr/>
            <p:nvPr/>
          </p:nvSpPr>
          <p:spPr>
            <a:xfrm>
              <a:off x="1332" y="0"/>
              <a:ext cx="594470" cy="597135"/>
            </a:xfrm>
            <a:custGeom>
              <a:rect b="b" l="l" r="r" t="t"/>
              <a:pathLst>
                <a:path extrusionOk="0" h="6350000" w="6321665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B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 txBox="1"/>
            <p:nvPr/>
          </p:nvSpPr>
          <p:spPr>
            <a:xfrm>
              <a:off x="1058285" y="-38100"/>
              <a:ext cx="8902548" cy="799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ASHOK NAGAR </a:t>
              </a:r>
              <a:endParaRPr/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1058284" y="902602"/>
              <a:ext cx="8902548" cy="574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Rs.2546-Rs.24739/sq.ft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-204992" y="-170819"/>
            <a:ext cx="18697984" cy="2668496"/>
          </a:xfrm>
          <a:prstGeom prst="rect">
            <a:avLst/>
          </a:prstGeom>
          <a:solidFill>
            <a:srgbClr val="8CB5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36" y="7382315"/>
            <a:ext cx="3004492" cy="255381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-318871" y="9726386"/>
            <a:ext cx="18925742" cy="826332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966951" y="3355130"/>
            <a:ext cx="5357649" cy="37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Pongal 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Deepavalli 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Vinayaka Chaturdi 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Tamil new year 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Marriage Season 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Ramzan (Ramadan), Christmas and Newyear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977836" y="350867"/>
            <a:ext cx="6794563" cy="178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</a:pPr>
            <a:r>
              <a:rPr lang="en-I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FESTIVALS </a:t>
            </a:r>
            <a:endParaRPr/>
          </a:p>
        </p:txBody>
      </p:sp>
      <p:graphicFrame>
        <p:nvGraphicFramePr>
          <p:cNvPr id="205" name="Google Shape;205;p9"/>
          <p:cNvGraphicFramePr/>
          <p:nvPr/>
        </p:nvGraphicFramePr>
        <p:xfrm>
          <a:off x="7053564" y="24952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{46F29A36-DAC7-4414-8D95-D206205A8C86}</a:tableStyleId>
              </a:tblPr>
              <a:tblGrid>
                <a:gridCol w="630725"/>
                <a:gridCol w="6177925"/>
                <a:gridCol w="1996625"/>
                <a:gridCol w="1429550"/>
              </a:tblGrid>
              <a:tr h="27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lt1"/>
                          </a:solidFill>
                        </a:rPr>
                        <a:t>S.NO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425" marB="48425" marR="3825" marL="3825" anchor="b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lt1"/>
                          </a:solidFill>
                        </a:rPr>
                        <a:t>PUBLIC HOLIDAYS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425" marB="48425" marR="3825" marL="3825" anchor="b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lt1"/>
                          </a:solidFill>
                        </a:rPr>
                        <a:t>DATE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425" marB="48425" marR="3825" marL="3825" anchor="b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solidFill>
                            <a:schemeClr val="lt1"/>
                          </a:solidFill>
                        </a:rPr>
                        <a:t>DAY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425" marB="48425" marR="3825" marL="3825" anchor="b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New Year’s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01.01.2021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Pongal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14.01.2021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Thursday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3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Thiruvalluvar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15.01.2021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4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Uzhavar Thirunal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16.01.2021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Saturday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5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Republic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26.01.2021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Tuesday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6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* Annual closing of Accounts for Commercial Banks &amp; Co-operative Banks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01.04.2021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Thursday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7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Good 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02.04.2021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8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Telugu New Year’s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13.04.2021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Tuesday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9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Tamil New Year’s Day and Dr. B.R.Ambedkar’s Birthday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14.04.2021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Wednesday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10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Mahaveer Jayanthi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25.04.2021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Sunday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11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May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01.05.2021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Saturday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12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Ramzan (Idul Fitr)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14.05.2021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13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Bakrid (Idul Azha)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21.07.2021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Wednesday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14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Independence 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15.08.2021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Sunday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15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Muharram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20.08.2021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16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Krishna Jayanthi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30.08.2021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Monday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17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Vinayakar Chathurthi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10.09.2021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18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Gandhi Jayanthi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02.10.2021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Saturday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19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Ayutha Pooja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14.10.2021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Thursday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20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Vijaya Dasami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15.10.2021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Friday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21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Milad-un-Nabi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19.10.2021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Tuesday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22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Deepavali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04.11.2021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Thursday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23</a:t>
                      </a:r>
                      <a:endParaRPr b="1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Christmas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25.12.2021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chemeClr val="lt1"/>
                          </a:solidFill>
                        </a:rPr>
                        <a:t>Saturday</a:t>
                      </a:r>
                      <a:endParaRPr b="0" i="0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25" marB="48425" marR="3825" marL="382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4586918" y="199037"/>
            <a:ext cx="2701475" cy="2296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B56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19194" r="19194" t="0"/>
          <a:stretch/>
        </p:blipFill>
        <p:spPr>
          <a:xfrm>
            <a:off x="8631314" y="-223972"/>
            <a:ext cx="9926934" cy="1073494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649103" y="573183"/>
            <a:ext cx="10612557" cy="9140634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10"/>
          <p:cNvGrpSpPr/>
          <p:nvPr/>
        </p:nvGrpSpPr>
        <p:grpSpPr>
          <a:xfrm>
            <a:off x="1383235" y="1168493"/>
            <a:ext cx="9144292" cy="2484917"/>
            <a:chOff x="0" y="-66675"/>
            <a:chExt cx="12192389" cy="3313223"/>
          </a:xfrm>
        </p:grpSpPr>
        <p:sp>
          <p:nvSpPr>
            <p:cNvPr id="214" name="Google Shape;214;p10"/>
            <p:cNvSpPr txBox="1"/>
            <p:nvPr/>
          </p:nvSpPr>
          <p:spPr>
            <a:xfrm>
              <a:off x="0" y="-66675"/>
              <a:ext cx="12192389" cy="1271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6000">
                  <a:solidFill>
                    <a:srgbClr val="FAFBFB"/>
                  </a:solidFill>
                  <a:latin typeface="Poppins"/>
                  <a:ea typeface="Poppins"/>
                  <a:cs typeface="Poppins"/>
                  <a:sym typeface="Poppins"/>
                </a:rPr>
                <a:t>GENERIC RESEARCH </a:t>
              </a:r>
              <a:endParaRPr/>
            </a:p>
          </p:txBody>
        </p:sp>
        <p:pic>
          <p:nvPicPr>
            <p:cNvPr id="215" name="Google Shape;21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967616"/>
              <a:ext cx="2066165" cy="2789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10"/>
          <p:cNvSpPr/>
          <p:nvPr/>
        </p:nvSpPr>
        <p:spPr>
          <a:xfrm>
            <a:off x="2932859" y="5448300"/>
            <a:ext cx="6058741" cy="205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6923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967679" y="3035107"/>
            <a:ext cx="8176321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Minimal share – 0.6% , Sales increase – 129%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Government initiatives –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Amma Scooter 2020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Karnataka – No specific scheme for e-bikes ( But for bicycles)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17.43Bn by 2024 , 42.95% CAGR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Tamil-nadu has a greater reception and promoted.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Budget-2021 , Scrapping of automobiles not fit, eco-friendly vehicles promoted.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March 2020 – Version BS4  bikes scrapped </a:t>
            </a:r>
            <a:endParaRPr/>
          </a:p>
        </p:txBody>
      </p:sp>
      <p:grpSp>
        <p:nvGrpSpPr>
          <p:cNvPr id="222" name="Google Shape;222;p11"/>
          <p:cNvGrpSpPr/>
          <p:nvPr/>
        </p:nvGrpSpPr>
        <p:grpSpPr>
          <a:xfrm>
            <a:off x="1028700" y="978694"/>
            <a:ext cx="8176318" cy="1346125"/>
            <a:chOff x="0" y="-66675"/>
            <a:chExt cx="10901758" cy="1794833"/>
          </a:xfrm>
        </p:grpSpPr>
        <p:sp>
          <p:nvSpPr>
            <p:cNvPr id="223" name="Google Shape;223;p11"/>
            <p:cNvSpPr txBox="1"/>
            <p:nvPr/>
          </p:nvSpPr>
          <p:spPr>
            <a:xfrm>
              <a:off x="0" y="-66675"/>
              <a:ext cx="10901758" cy="1333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E-bike market </a:t>
              </a:r>
              <a:endParaRPr b="1" sz="4400">
                <a:solidFill>
                  <a:srgbClr val="FAFBF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24" name="Google Shape;22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449226"/>
              <a:ext cx="2066165" cy="2789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3995" y="1028700"/>
            <a:ext cx="7365492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2"/>
          <p:cNvGrpSpPr/>
          <p:nvPr/>
        </p:nvGrpSpPr>
        <p:grpSpPr>
          <a:xfrm>
            <a:off x="0" y="0"/>
            <a:ext cx="10999727" cy="10287000"/>
            <a:chOff x="0" y="0"/>
            <a:chExt cx="14666303" cy="13716000"/>
          </a:xfrm>
        </p:grpSpPr>
        <p:pic>
          <p:nvPicPr>
            <p:cNvPr id="231" name="Google Shape;231;p12"/>
            <p:cNvPicPr preferRelativeResize="0"/>
            <p:nvPr/>
          </p:nvPicPr>
          <p:blipFill rotWithShape="1">
            <a:blip r:embed="rId3">
              <a:alphaModFix/>
            </a:blip>
            <a:srcRect b="13848" l="0" r="0" t="13848"/>
            <a:stretch/>
          </p:blipFill>
          <p:spPr>
            <a:xfrm>
              <a:off x="0" y="0"/>
              <a:ext cx="9608202" cy="4402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2"/>
            <p:cNvPicPr preferRelativeResize="0"/>
            <p:nvPr/>
          </p:nvPicPr>
          <p:blipFill rotWithShape="1">
            <a:blip r:embed="rId4">
              <a:alphaModFix/>
            </a:blip>
            <a:srcRect b="0" l="20248" r="29751" t="0"/>
            <a:stretch/>
          </p:blipFill>
          <p:spPr>
            <a:xfrm>
              <a:off x="9862202" y="0"/>
              <a:ext cx="4804101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2"/>
            <p:cNvPicPr preferRelativeResize="0"/>
            <p:nvPr/>
          </p:nvPicPr>
          <p:blipFill rotWithShape="1">
            <a:blip r:embed="rId5">
              <a:alphaModFix/>
            </a:blip>
            <a:srcRect b="0" l="14669" r="14669" t="0"/>
            <a:stretch/>
          </p:blipFill>
          <p:spPr>
            <a:xfrm>
              <a:off x="0" y="4656667"/>
              <a:ext cx="9608202" cy="9059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2"/>
            <p:cNvPicPr preferRelativeResize="0"/>
            <p:nvPr/>
          </p:nvPicPr>
          <p:blipFill rotWithShape="1">
            <a:blip r:embed="rId6">
              <a:alphaModFix/>
            </a:blip>
            <a:srcRect b="0" l="25766" r="25766" t="0"/>
            <a:stretch/>
          </p:blipFill>
          <p:spPr>
            <a:xfrm>
              <a:off x="9862202" y="7112000"/>
              <a:ext cx="4804101" cy="660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235;p12"/>
          <p:cNvSpPr/>
          <p:nvPr/>
        </p:nvSpPr>
        <p:spPr>
          <a:xfrm>
            <a:off x="11201913" y="193585"/>
            <a:ext cx="7537817" cy="9880849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12"/>
          <p:cNvGrpSpPr/>
          <p:nvPr/>
        </p:nvGrpSpPr>
        <p:grpSpPr>
          <a:xfrm>
            <a:off x="11967920" y="1000125"/>
            <a:ext cx="5291380" cy="6175374"/>
            <a:chOff x="0" y="-38100"/>
            <a:chExt cx="7055173" cy="8233833"/>
          </a:xfrm>
        </p:grpSpPr>
        <p:sp>
          <p:nvSpPr>
            <p:cNvPr id="237" name="Google Shape;237;p12"/>
            <p:cNvSpPr txBox="1"/>
            <p:nvPr/>
          </p:nvSpPr>
          <p:spPr>
            <a:xfrm>
              <a:off x="0" y="-38100"/>
              <a:ext cx="7055173" cy="7998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3800">
                  <a:solidFill>
                    <a:srgbClr val="FAFBFB"/>
                  </a:solidFill>
                  <a:latin typeface="Poppins"/>
                  <a:ea typeface="Poppins"/>
                  <a:cs typeface="Poppins"/>
                  <a:sym typeface="Poppins"/>
                </a:rPr>
                <a:t>COMPETITORS</a:t>
              </a:r>
              <a:endParaRPr/>
            </a:p>
          </p:txBody>
        </p:sp>
        <p:sp>
          <p:nvSpPr>
            <p:cNvPr id="238" name="Google Shape;238;p12"/>
            <p:cNvSpPr txBox="1"/>
            <p:nvPr/>
          </p:nvSpPr>
          <p:spPr>
            <a:xfrm>
              <a:off x="0" y="1876054"/>
              <a:ext cx="7055173" cy="6319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Electrotherm (India)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Ampere Vehicles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Ather Energy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Avon Cycles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Hero Electric Vehicles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Lohia Auto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NDS Eco Motors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Okinawa Autotech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Tork Motors Private Limited</a:t>
              </a:r>
              <a:endParaRPr/>
            </a:p>
            <a:p>
              <a:pPr indent="-1778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Char char="•"/>
              </a:pPr>
              <a:r>
                <a:rPr b="0" i="0" lang="en-IN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Tunwal E-Bike India Private Limited</a:t>
              </a:r>
              <a:endParaRPr/>
            </a:p>
          </p:txBody>
        </p:sp>
      </p:grpSp>
      <p:pic>
        <p:nvPicPr>
          <p:cNvPr id="239" name="Google Shape;23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67920" y="7283767"/>
            <a:ext cx="2322980" cy="197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1028700" y="1028700"/>
            <a:ext cx="7765575" cy="8229600"/>
          </a:xfrm>
          <a:prstGeom prst="rect">
            <a:avLst/>
          </a:prstGeom>
          <a:solidFill>
            <a:srgbClr val="2223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1554052" y="1480549"/>
            <a:ext cx="6714871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FAFBFB"/>
                </a:solidFill>
                <a:latin typeface="Poppins"/>
                <a:ea typeface="Poppins"/>
                <a:cs typeface="Poppins"/>
                <a:sym typeface="Poppins"/>
              </a:rPr>
              <a:t>POSSIBLE MARKETS </a:t>
            </a:r>
            <a:endParaRPr/>
          </a:p>
        </p:txBody>
      </p:sp>
      <p:sp>
        <p:nvSpPr>
          <p:cNvPr id="246" name="Google Shape;246;p13"/>
          <p:cNvSpPr txBox="1"/>
          <p:nvPr/>
        </p:nvSpPr>
        <p:spPr>
          <a:xfrm>
            <a:off x="1554051" y="2781618"/>
            <a:ext cx="6714871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Uber , Ola , Rapido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Swiggy, Zomato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School children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Under- 18 – No license required (less than 50cc)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IIT Madras – Inter college (617 acres)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Char char="•"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IIM Bangalore – ( 100 acres )</a:t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11116920" y="4481780"/>
            <a:ext cx="617503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THANKYOU!!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Padhmaja Kannan</dc:creator>
</cp:coreProperties>
</file>