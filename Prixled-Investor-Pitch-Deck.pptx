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5.xml" ContentType="application/vnd.openxmlformats-officedocument.presentationml.tags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6.xml" ContentType="application/vnd.openxmlformats-officedocument.presentationml.tags+xml"/>
  <Override PartName="/ppt/notesSlides/notesSlide8.xml" ContentType="application/vnd.openxmlformats-officedocument.presentationml.notesSlide+xml"/>
  <Override PartName="/ppt/tags/tag17.xml" ContentType="application/vnd.openxmlformats-officedocument.presentationml.tags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4"/>
  </p:sldMasterIdLst>
  <p:notesMasterIdLst>
    <p:notesMasterId r:id="rId14"/>
  </p:notesMasterIdLst>
  <p:sldIdLst>
    <p:sldId id="263" r:id="rId5"/>
    <p:sldId id="264" r:id="rId6"/>
    <p:sldId id="261" r:id="rId7"/>
    <p:sldId id="340" r:id="rId8"/>
    <p:sldId id="350" r:id="rId9"/>
    <p:sldId id="357" r:id="rId10"/>
    <p:sldId id="267" r:id="rId11"/>
    <p:sldId id="358" r:id="rId12"/>
    <p:sldId id="337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Open Sans" panose="020B0604020202020204" charset="0"/>
      <p:regular r:id="rId19"/>
      <p:bold r:id="rId20"/>
      <p:italic r:id="rId21"/>
      <p:boldItalic r:id="rId22"/>
    </p:embeddedFont>
    <p:embeddedFont>
      <p:font typeface="Open Sans Light" panose="020B0604020202020204" charset="0"/>
      <p:regular r:id="rId23"/>
      <p:italic r:id="rId24"/>
    </p:embeddedFont>
    <p:embeddedFont>
      <p:font typeface="Open Sans Semibold" panose="020B0604020202020204" charset="0"/>
      <p:bold r:id="rId25"/>
      <p:boldItalic r:id="rId26"/>
    </p:embeddedFont>
  </p:embeddedFontLst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7E7"/>
    <a:srgbClr val="676767"/>
    <a:srgbClr val="ED942D"/>
    <a:srgbClr val="1E2A39"/>
    <a:srgbClr val="F57A16"/>
    <a:srgbClr val="FA621C"/>
    <a:srgbClr val="132E57"/>
    <a:srgbClr val="1E84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CC2BD4-BC23-FB25-9016-BEE856089B7A}" v="30" dt="2020-12-01T10:13:32.167"/>
    <p1510:client id="{11885262-2227-4861-A9D4-40B416203AAD}" v="1717" dt="2020-12-01T18:02:28.077"/>
    <p1510:client id="{16F44227-C960-1E80-19E4-0A6C721C694E}" v="1085" dt="2020-12-02T11:43:27.973"/>
    <p1510:client id="{6A6D06BF-D011-77EE-7C12-B5BCFF019BF4}" v="379" dt="2020-12-01T15:38:36.169"/>
    <p1510:client id="{747D1BF1-D6EF-7A50-660E-4AAC3B19F5C9}" v="61" dt="2020-12-02T12:47:10.571"/>
    <p1510:client id="{83F5322D-D3C2-4E08-B773-9FF8AA604720}" v="864" dt="2020-12-02T12:48:21.885"/>
    <p1510:client id="{A528D959-E7D3-C298-75CD-636E87224B55}" v="590" dt="2020-12-01T15:20:47.781"/>
    <p1510:client id="{ECE4C20B-41B3-D362-1E99-328CDFF75F44}" v="25" dt="2020-11-30T19:16:02.990"/>
    <p1510:client id="{FAE14D3E-F1A6-8B15-4885-F789E63B2005}" v="14" dt="2020-12-01T15:28:44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5248949457229792E-2"/>
          <c:y val="0.17163516039094337"/>
          <c:w val="0.67198109811643603"/>
          <c:h val="0.76284924059059289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000">
          <a:solidFill>
            <a:srgbClr val="676767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A4DEEF-29D5-4741-9605-66B259754628}" type="doc">
      <dgm:prSet loTypeId="urn:microsoft.com/office/officeart/2005/8/layout/matrix2" loCatId="matrix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78E67A7B-1912-42AF-A186-2674198FB79F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IN" sz="1400"/>
            <a:t>Content Monetization</a:t>
          </a:r>
        </a:p>
      </dgm:t>
    </dgm:pt>
    <dgm:pt modelId="{7DC13E10-5471-4C86-911E-3907962DEE9A}" type="sibTrans" cxnId="{68CE5EC5-244B-42AA-A0A4-DE5A43DA5C4B}">
      <dgm:prSet/>
      <dgm:spPr/>
      <dgm:t>
        <a:bodyPr/>
        <a:lstStyle/>
        <a:p>
          <a:endParaRPr lang="en-IN"/>
        </a:p>
      </dgm:t>
    </dgm:pt>
    <dgm:pt modelId="{711D2B3D-4028-430D-B676-33758C5698C7}" type="parTrans" cxnId="{68CE5EC5-244B-42AA-A0A4-DE5A43DA5C4B}">
      <dgm:prSet/>
      <dgm:spPr/>
      <dgm:t>
        <a:bodyPr/>
        <a:lstStyle/>
        <a:p>
          <a:endParaRPr lang="en-IN"/>
        </a:p>
      </dgm:t>
    </dgm:pt>
    <dgm:pt modelId="{9F039472-ACA5-4DAB-BBD1-4115E2EDCE9E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IN" sz="1400"/>
            <a:t>Community Engagement</a:t>
          </a:r>
        </a:p>
      </dgm:t>
    </dgm:pt>
    <dgm:pt modelId="{CB0A484D-5CA5-4381-8C6C-166322DA4DAE}" type="sibTrans" cxnId="{D7286D98-FBA6-44CD-83C5-851825254956}">
      <dgm:prSet/>
      <dgm:spPr/>
      <dgm:t>
        <a:bodyPr/>
        <a:lstStyle/>
        <a:p>
          <a:endParaRPr lang="en-IN"/>
        </a:p>
      </dgm:t>
    </dgm:pt>
    <dgm:pt modelId="{1987F778-CEDF-4724-9BBB-DF53284861E2}" type="parTrans" cxnId="{D7286D98-FBA6-44CD-83C5-851825254956}">
      <dgm:prSet/>
      <dgm:spPr/>
      <dgm:t>
        <a:bodyPr/>
        <a:lstStyle/>
        <a:p>
          <a:endParaRPr lang="en-IN"/>
        </a:p>
      </dgm:t>
    </dgm:pt>
    <dgm:pt modelId="{5EA69522-9F0E-4450-9AF7-CBD014182401}" type="pres">
      <dgm:prSet presAssocID="{74A4DEEF-29D5-4741-9605-66B259754628}" presName="matrix" presStyleCnt="0">
        <dgm:presLayoutVars>
          <dgm:chMax val="1"/>
          <dgm:dir/>
          <dgm:resizeHandles val="exact"/>
        </dgm:presLayoutVars>
      </dgm:prSet>
      <dgm:spPr/>
    </dgm:pt>
    <dgm:pt modelId="{930F5CCD-4621-40A7-B100-54595F287E27}" type="pres">
      <dgm:prSet presAssocID="{74A4DEEF-29D5-4741-9605-66B259754628}" presName="axisShape" presStyleLbl="bgShp" presStyleIdx="0" presStyleCnt="1" custScaleX="167179"/>
      <dgm:spPr>
        <a:solidFill>
          <a:schemeClr val="tx1"/>
        </a:solidFill>
      </dgm:spPr>
    </dgm:pt>
    <dgm:pt modelId="{30EB5E79-0F52-4A8B-88AF-41414ABCEDB6}" type="pres">
      <dgm:prSet presAssocID="{74A4DEEF-29D5-4741-9605-66B259754628}" presName="rect1" presStyleLbl="node1" presStyleIdx="0" presStyleCnt="4" custScaleX="85849" custScaleY="17708" custLinFactNeighborX="309" custLinFactNeighborY="-54307">
        <dgm:presLayoutVars>
          <dgm:chMax val="0"/>
          <dgm:chPref val="0"/>
          <dgm:bulletEnabled val="1"/>
        </dgm:presLayoutVars>
      </dgm:prSet>
      <dgm:spPr/>
    </dgm:pt>
    <dgm:pt modelId="{DD6B606A-4154-4E93-BA65-3F2556E22ADB}" type="pres">
      <dgm:prSet presAssocID="{74A4DEEF-29D5-4741-9605-66B259754628}" presName="rect2" presStyleLbl="node1" presStyleIdx="1" presStyleCnt="4" custScaleX="82252" custScaleY="16142" custLinFactX="11264" custLinFactNeighborX="100000" custLinFactNeighborY="41350">
        <dgm:presLayoutVars>
          <dgm:chMax val="0"/>
          <dgm:chPref val="0"/>
          <dgm:bulletEnabled val="1"/>
        </dgm:presLayoutVars>
      </dgm:prSet>
      <dgm:spPr/>
    </dgm:pt>
    <dgm:pt modelId="{BC70207C-0423-41CE-8899-790DCFFF0E8E}" type="pres">
      <dgm:prSet presAssocID="{74A4DEEF-29D5-4741-9605-66B259754628}" presName="rect3" presStyleLbl="node1" presStyleIdx="2" presStyleCnt="4" custScaleX="32579" custScaleY="9574" custLinFactX="-22289" custLinFactNeighborX="-100000" custLinFactNeighborY="-69193">
        <dgm:presLayoutVars>
          <dgm:chMax val="0"/>
          <dgm:chPref val="0"/>
          <dgm:bulletEnabled val="1"/>
        </dgm:presLayoutVars>
      </dgm:prSet>
      <dgm:spPr>
        <a:ln>
          <a:solidFill>
            <a:schemeClr val="bg1"/>
          </a:solidFill>
        </a:ln>
      </dgm:spPr>
    </dgm:pt>
    <dgm:pt modelId="{BCEDA2DA-B5B0-45D2-9030-72487D97FB1D}" type="pres">
      <dgm:prSet presAssocID="{74A4DEEF-29D5-4741-9605-66B259754628}" presName="rect4" presStyleLbl="node1" presStyleIdx="3" presStyleCnt="4" custScaleX="36778" custScaleY="9574" custLinFactNeighborX="-89131" custLinFactNeighborY="60304">
        <dgm:presLayoutVars>
          <dgm:chMax val="0"/>
          <dgm:chPref val="0"/>
          <dgm:bulletEnabled val="1"/>
        </dgm:presLayoutVars>
      </dgm:prSet>
      <dgm:spPr>
        <a:ln>
          <a:solidFill>
            <a:schemeClr val="bg1"/>
          </a:solidFill>
        </a:ln>
      </dgm:spPr>
    </dgm:pt>
  </dgm:ptLst>
  <dgm:cxnLst>
    <dgm:cxn modelId="{53C0D953-AB76-476D-ACA3-53769123F00F}" type="presOf" srcId="{78E67A7B-1912-42AF-A186-2674198FB79F}" destId="{DD6B606A-4154-4E93-BA65-3F2556E22ADB}" srcOrd="0" destOrd="0" presId="urn:microsoft.com/office/officeart/2005/8/layout/matrix2"/>
    <dgm:cxn modelId="{37AD5494-0E5E-4461-8F34-C13A959E243C}" type="presOf" srcId="{9F039472-ACA5-4DAB-BBD1-4115E2EDCE9E}" destId="{30EB5E79-0F52-4A8B-88AF-41414ABCEDB6}" srcOrd="0" destOrd="0" presId="urn:microsoft.com/office/officeart/2005/8/layout/matrix2"/>
    <dgm:cxn modelId="{D7286D98-FBA6-44CD-83C5-851825254956}" srcId="{74A4DEEF-29D5-4741-9605-66B259754628}" destId="{9F039472-ACA5-4DAB-BBD1-4115E2EDCE9E}" srcOrd="0" destOrd="0" parTransId="{1987F778-CEDF-4724-9BBB-DF53284861E2}" sibTransId="{CB0A484D-5CA5-4381-8C6C-166322DA4DAE}"/>
    <dgm:cxn modelId="{68CE5EC5-244B-42AA-A0A4-DE5A43DA5C4B}" srcId="{74A4DEEF-29D5-4741-9605-66B259754628}" destId="{78E67A7B-1912-42AF-A186-2674198FB79F}" srcOrd="1" destOrd="0" parTransId="{711D2B3D-4028-430D-B676-33758C5698C7}" sibTransId="{7DC13E10-5471-4C86-911E-3907962DEE9A}"/>
    <dgm:cxn modelId="{D29FC4DA-764B-42AB-A64D-75ED48FF207C}" type="presOf" srcId="{74A4DEEF-29D5-4741-9605-66B259754628}" destId="{5EA69522-9F0E-4450-9AF7-CBD014182401}" srcOrd="0" destOrd="0" presId="urn:microsoft.com/office/officeart/2005/8/layout/matrix2"/>
    <dgm:cxn modelId="{5F8B59D4-AF4E-45C1-9562-A5D950C37198}" type="presParOf" srcId="{5EA69522-9F0E-4450-9AF7-CBD014182401}" destId="{930F5CCD-4621-40A7-B100-54595F287E27}" srcOrd="0" destOrd="0" presId="urn:microsoft.com/office/officeart/2005/8/layout/matrix2"/>
    <dgm:cxn modelId="{1605E957-78B9-498C-8876-AE749CD8342F}" type="presParOf" srcId="{5EA69522-9F0E-4450-9AF7-CBD014182401}" destId="{30EB5E79-0F52-4A8B-88AF-41414ABCEDB6}" srcOrd="1" destOrd="0" presId="urn:microsoft.com/office/officeart/2005/8/layout/matrix2"/>
    <dgm:cxn modelId="{5EE4E3CC-19E6-4144-A4C2-8F6B6671C922}" type="presParOf" srcId="{5EA69522-9F0E-4450-9AF7-CBD014182401}" destId="{DD6B606A-4154-4E93-BA65-3F2556E22ADB}" srcOrd="2" destOrd="0" presId="urn:microsoft.com/office/officeart/2005/8/layout/matrix2"/>
    <dgm:cxn modelId="{B3B5C633-9CB5-400A-837B-28F9642B57DB}" type="presParOf" srcId="{5EA69522-9F0E-4450-9AF7-CBD014182401}" destId="{BC70207C-0423-41CE-8899-790DCFFF0E8E}" srcOrd="3" destOrd="0" presId="urn:microsoft.com/office/officeart/2005/8/layout/matrix2"/>
    <dgm:cxn modelId="{B6D5B3EC-E6C4-44C4-9A94-E01EBA1F8382}" type="presParOf" srcId="{5EA69522-9F0E-4450-9AF7-CBD014182401}" destId="{BCEDA2DA-B5B0-45D2-9030-72487D97FB1D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0F5CCD-4621-40A7-B100-54595F287E27}">
      <dsp:nvSpPr>
        <dsp:cNvPr id="0" name=""/>
        <dsp:cNvSpPr/>
      </dsp:nvSpPr>
      <dsp:spPr>
        <a:xfrm>
          <a:off x="299906" y="0"/>
          <a:ext cx="8888802" cy="5316937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B5E79-0F52-4A8B-88AF-41414ABCEDB6}">
      <dsp:nvSpPr>
        <dsp:cNvPr id="0" name=""/>
        <dsp:cNvSpPr/>
      </dsp:nvSpPr>
      <dsp:spPr>
        <a:xfrm>
          <a:off x="2588492" y="65696"/>
          <a:ext cx="1825814" cy="3766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Community Engagement</a:t>
          </a:r>
        </a:p>
      </dsp:txBody>
      <dsp:txXfrm>
        <a:off x="2606877" y="84081"/>
        <a:ext cx="1789044" cy="339839"/>
      </dsp:txXfrm>
    </dsp:sp>
    <dsp:sp modelId="{DD6B606A-4154-4E93-BA65-3F2556E22ADB}">
      <dsp:nvSpPr>
        <dsp:cNvPr id="0" name=""/>
        <dsp:cNvSpPr/>
      </dsp:nvSpPr>
      <dsp:spPr>
        <a:xfrm>
          <a:off x="7485465" y="2116757"/>
          <a:ext cx="1749314" cy="34330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Content Monetization</a:t>
          </a:r>
        </a:p>
      </dsp:txBody>
      <dsp:txXfrm>
        <a:off x="7502224" y="2133516"/>
        <a:ext cx="1715796" cy="309785"/>
      </dsp:txXfrm>
    </dsp:sp>
    <dsp:sp modelId="{BC70207C-0423-41CE-8899-790DCFFF0E8E}">
      <dsp:nvSpPr>
        <dsp:cNvPr id="0" name=""/>
        <dsp:cNvSpPr/>
      </dsp:nvSpPr>
      <dsp:spPr>
        <a:xfrm>
          <a:off x="547575" y="2334560"/>
          <a:ext cx="692881" cy="20361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EDA2DA-B5B0-45D2-9030-72487D97FB1D}">
      <dsp:nvSpPr>
        <dsp:cNvPr id="0" name=""/>
        <dsp:cNvSpPr/>
      </dsp:nvSpPr>
      <dsp:spPr>
        <a:xfrm>
          <a:off x="3707079" y="5088670"/>
          <a:ext cx="782185" cy="20361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1115193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38" name="Shape 2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8184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3" name="Shape 2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</a:t>
            </a:r>
            <a:r>
              <a:rPr lang="en-US" sz="12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Shape 244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1223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46" name="Shape 14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2661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2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4" name="Shape 2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Shape 295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2745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2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4" name="Shape 2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Shape 295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0839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46" name="Shape 14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8614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320" name="Shape 32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8737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7195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5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562" name="Shape 5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6495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817019"/>
            <a:ext cx="9144000" cy="122396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Rectangle 2"/>
          <p:cNvSpPr/>
          <p:nvPr userDrawn="1"/>
        </p:nvSpPr>
        <p:spPr>
          <a:xfrm>
            <a:off x="410540" y="6341495"/>
            <a:ext cx="20008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676767"/>
                </a:solidFill>
              </a:rPr>
              <a:t>Corporate Finance Institute®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382367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Title">
    <p:bg>
      <p:bgPr>
        <a:solidFill>
          <a:srgbClr val="1E2A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817019"/>
            <a:ext cx="9144000" cy="1223963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rgbClr val="ED942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508074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8863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334000" cy="45767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5257800" cy="45767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56326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0540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62252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11943"/>
            <a:ext cx="10896600" cy="701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0896600" cy="4576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1E2A39"/>
          </a:solidFill>
          <a:ln>
            <a:solidFill>
              <a:srgbClr val="1E2A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/>
          <p:cNvSpPr/>
          <p:nvPr userDrawn="1"/>
        </p:nvSpPr>
        <p:spPr>
          <a:xfrm>
            <a:off x="410540" y="6341495"/>
            <a:ext cx="20008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676767"/>
                </a:solidFill>
              </a:rPr>
              <a:t>Corporate Finance Institute® </a:t>
            </a:r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650684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132E57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  <a:lvl2pPr marL="18288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2pPr>
      <a:lvl3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3pPr>
      <a:lvl4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4pPr>
      <a:lvl5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9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10" Type="http://schemas.openxmlformats.org/officeDocument/2006/relationships/image" Target="../media/image12.pn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11.jpeg"/><Relationship Id="rId3" Type="http://schemas.openxmlformats.org/officeDocument/2006/relationships/notesSlide" Target="../notesSlides/notesSlide6.xml"/><Relationship Id="rId7" Type="http://schemas.openxmlformats.org/officeDocument/2006/relationships/diagramColors" Target="../diagrams/colors1.xml"/><Relationship Id="rId12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3.jpeg"/><Relationship Id="rId1" Type="http://schemas.openxmlformats.org/officeDocument/2006/relationships/tags" Target="../tags/tag14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9.jpeg"/><Relationship Id="rId5" Type="http://schemas.openxmlformats.org/officeDocument/2006/relationships/diagramLayout" Target="../diagrams/layout1.xml"/><Relationship Id="rId15" Type="http://schemas.openxmlformats.org/officeDocument/2006/relationships/image" Target="../media/image12.png"/><Relationship Id="rId10" Type="http://schemas.openxmlformats.org/officeDocument/2006/relationships/image" Target="../media/image8.jpeg"/><Relationship Id="rId4" Type="http://schemas.openxmlformats.org/officeDocument/2006/relationships/diagramData" Target="../diagrams/data1.xml"/><Relationship Id="rId9" Type="http://schemas.openxmlformats.org/officeDocument/2006/relationships/image" Target="../media/image7.jpeg"/><Relationship Id="rId1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9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>
            <a:spLocks noGrp="1"/>
          </p:cNvSpPr>
          <p:nvPr>
            <p:ph type="ctrTitle"/>
          </p:nvPr>
        </p:nvSpPr>
        <p:spPr>
          <a:xfrm>
            <a:off x="0" y="4925116"/>
            <a:ext cx="12192000" cy="122396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rgbClr val="132E57"/>
              </a:buClr>
              <a:buSzPct val="25000"/>
            </a:pPr>
            <a:r>
              <a:rPr lang="en-US" sz="3200">
                <a:sym typeface="Open Sans"/>
              </a:rPr>
              <a:t>Create </a:t>
            </a:r>
            <a:r>
              <a:rPr lang="en-US" sz="3200" err="1">
                <a:solidFill>
                  <a:schemeClr val="bg2"/>
                </a:solidFill>
                <a:sym typeface="Open Sans"/>
              </a:rPr>
              <a:t>Artilogs</a:t>
            </a:r>
            <a:r>
              <a:rPr lang="en-US" sz="3200">
                <a:sym typeface="Open Sans"/>
              </a:rPr>
              <a:t> | Define </a:t>
            </a:r>
            <a:r>
              <a:rPr lang="en-US" sz="3200">
                <a:solidFill>
                  <a:schemeClr val="bg1"/>
                </a:solidFill>
                <a:sym typeface="Open Sans"/>
              </a:rPr>
              <a:t>Content </a:t>
            </a:r>
            <a:r>
              <a:rPr lang="en-US" sz="3200">
                <a:sym typeface="Open Sans"/>
              </a:rPr>
              <a:t>| Build </a:t>
            </a:r>
            <a:r>
              <a:rPr lang="en-US" sz="3200">
                <a:solidFill>
                  <a:schemeClr val="bg2"/>
                </a:solidFill>
                <a:sym typeface="Open Sans"/>
              </a:rPr>
              <a:t>Community</a:t>
            </a:r>
            <a:r>
              <a:rPr lang="en-US" sz="3200">
                <a:sym typeface="Open Sans"/>
              </a:rPr>
              <a:t> | Earn </a:t>
            </a:r>
            <a:r>
              <a:rPr lang="en-US" sz="3200">
                <a:solidFill>
                  <a:schemeClr val="bg2"/>
                </a:solidFill>
                <a:sym typeface="Open Sans"/>
              </a:rPr>
              <a:t>Awards &amp; Badges</a:t>
            </a:r>
            <a:endParaRPr lang="en-US" sz="2800" b="0" i="0" u="none" strike="noStrike" cap="none">
              <a:solidFill>
                <a:schemeClr val="bg2"/>
              </a:solidFill>
              <a:sym typeface="Open Sans"/>
            </a:endParaRPr>
          </a:p>
        </p:txBody>
      </p:sp>
      <p:sp>
        <p:nvSpPr>
          <p:cNvPr id="7" name="Shape 240"/>
          <p:cNvSpPr txBox="1">
            <a:spLocks/>
          </p:cNvSpPr>
          <p:nvPr/>
        </p:nvSpPr>
        <p:spPr>
          <a:xfrm>
            <a:off x="1446582" y="514906"/>
            <a:ext cx="9144000" cy="2112884"/>
          </a:xfrm>
          <a:prstGeom prst="rect">
            <a:avLst/>
          </a:prstGeom>
          <a:noFill/>
          <a:ln>
            <a:noFill/>
          </a:ln>
        </p:spPr>
        <p:txBody>
          <a:bodyPr vert="horz" lIns="91425" tIns="45700" rIns="91425" bIns="457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rgbClr val="ED942D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>
              <a:spcBef>
                <a:spcPts val="0"/>
              </a:spcBef>
              <a:buClr>
                <a:srgbClr val="132E57"/>
              </a:buClr>
              <a:buSzPct val="25000"/>
              <a:buFont typeface="Open Sans"/>
              <a:buNone/>
            </a:pPr>
            <a:r>
              <a:rPr lang="en-US" sz="16600" b="1">
                <a:solidFill>
                  <a:schemeClr val="bg1"/>
                </a:solidFill>
                <a:sym typeface="Open Sans"/>
              </a:rPr>
              <a:t>PRIX</a:t>
            </a:r>
            <a:r>
              <a:rPr lang="en-US" sz="16600" b="1">
                <a:solidFill>
                  <a:schemeClr val="accent2">
                    <a:lumMod val="75000"/>
                  </a:schemeClr>
                </a:solidFill>
                <a:sym typeface="Open Sans"/>
              </a:rPr>
              <a:t>LED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97509-AB65-4C8C-BB03-90EBFDE64CA5}"/>
              </a:ext>
            </a:extLst>
          </p:cNvPr>
          <p:cNvSpPr txBox="1"/>
          <p:nvPr/>
        </p:nvSpPr>
        <p:spPr>
          <a:xfrm>
            <a:off x="887289" y="2505723"/>
            <a:ext cx="10262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>
                <a:solidFill>
                  <a:schemeClr val="bg1"/>
                </a:solidFill>
                <a:latin typeface="Open Sans Light" panose="020B0604020202020204" charset="0"/>
                <a:ea typeface="Open Sans Light" panose="020B0604020202020204" charset="0"/>
                <a:cs typeface="Open Sans Light" panose="020B0604020202020204" charset="0"/>
              </a:rPr>
              <a:t>Investor Pitch Deck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3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0"/>
          <p:cNvSpPr txBox="1">
            <a:spLocks/>
          </p:cNvSpPr>
          <p:nvPr/>
        </p:nvSpPr>
        <p:spPr>
          <a:xfrm>
            <a:off x="900546" y="2997800"/>
            <a:ext cx="4544290" cy="18859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pPr algn="ctr">
              <a:buClr>
                <a:srgbClr val="132E57"/>
              </a:buClr>
              <a:buSzPct val="25000"/>
            </a:pPr>
            <a:r>
              <a:rPr lang="en-US" sz="3200">
                <a:solidFill>
                  <a:schemeClr val="tx2"/>
                </a:solidFill>
                <a:ea typeface="Open Sans Light" panose="020B0306030504020204" pitchFamily="34" charset="0"/>
                <a:sym typeface="Open Sans"/>
              </a:rPr>
              <a:t>A Revolutionary platform that provides you a </a:t>
            </a:r>
            <a:r>
              <a:rPr lang="en-US" sz="3200" b="1">
                <a:solidFill>
                  <a:schemeClr val="tx2"/>
                </a:solidFill>
                <a:ea typeface="Open Sans Light" panose="020B0306030504020204" pitchFamily="34" charset="0"/>
                <a:sym typeface="Open Sans"/>
              </a:rPr>
              <a:t>hassle-free </a:t>
            </a:r>
            <a:r>
              <a:rPr lang="en-US" sz="3200">
                <a:solidFill>
                  <a:schemeClr val="tx2"/>
                </a:solidFill>
                <a:ea typeface="Open Sans Light" panose="020B0306030504020204" pitchFamily="34" charset="0"/>
                <a:sym typeface="Open Sans"/>
              </a:rPr>
              <a:t>platform to create, avail, </a:t>
            </a:r>
            <a:r>
              <a:rPr lang="en-US" sz="3200" b="1">
                <a:solidFill>
                  <a:schemeClr val="tx2"/>
                </a:solidFill>
                <a:ea typeface="Open Sans Light" panose="020B0306030504020204" pitchFamily="34" charset="0"/>
                <a:sym typeface="Open Sans"/>
              </a:rPr>
              <a:t>proofread quality content</a:t>
            </a:r>
            <a:r>
              <a:rPr lang="en-US" sz="3200">
                <a:solidFill>
                  <a:schemeClr val="tx2"/>
                </a:solidFill>
                <a:ea typeface="Open Sans Light" panose="020B0306030504020204" pitchFamily="34" charset="0"/>
                <a:sym typeface="Open Sans"/>
              </a:rPr>
              <a:t> with </a:t>
            </a:r>
            <a:r>
              <a:rPr lang="en-US" sz="3200" b="1">
                <a:solidFill>
                  <a:schemeClr val="tx2"/>
                </a:solidFill>
                <a:ea typeface="Open Sans Light" panose="020B0306030504020204" pitchFamily="34" charset="0"/>
                <a:sym typeface="Open Sans"/>
              </a:rPr>
              <a:t>stunning templates </a:t>
            </a:r>
            <a:r>
              <a:rPr lang="en-US" sz="3200">
                <a:solidFill>
                  <a:schemeClr val="tx2"/>
                </a:solidFill>
                <a:ea typeface="Open Sans Light" panose="020B0306030504020204" pitchFamily="34" charset="0"/>
                <a:sym typeface="Open Sans"/>
              </a:rPr>
              <a:t>&amp; network with peers to build </a:t>
            </a:r>
            <a:r>
              <a:rPr lang="en-US" sz="3200" b="1">
                <a:solidFill>
                  <a:schemeClr val="tx2"/>
                </a:solidFill>
                <a:ea typeface="Open Sans Light" panose="020B0306030504020204" pitchFamily="34" charset="0"/>
                <a:sym typeface="Open Sans"/>
              </a:rPr>
              <a:t>social community through badges</a:t>
            </a:r>
            <a:endParaRPr lang="en-US" sz="3200">
              <a:solidFill>
                <a:schemeClr val="tx2"/>
              </a:solidFill>
              <a:ea typeface="Open Sans Light" panose="020B0306030504020204" pitchFamily="34" charset="0"/>
              <a:sym typeface="Open 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3579" y="399963"/>
            <a:ext cx="4778224" cy="945065"/>
          </a:xfrm>
          <a:prstGeom prst="rect">
            <a:avLst/>
          </a:prstGeom>
          <a:solidFill>
            <a:srgbClr val="E6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82880" algn="ctr">
              <a:spcBef>
                <a:spcPts val="600"/>
              </a:spcBef>
              <a:spcAft>
                <a:spcPts val="600"/>
              </a:spcAft>
            </a:pPr>
            <a:r>
              <a:rPr lang="en-US" sz="4400">
                <a:solidFill>
                  <a:srgbClr val="676767"/>
                </a:solidFill>
                <a:latin typeface="Calibri"/>
                <a:ea typeface="Open Sans Semibold"/>
                <a:cs typeface="Calibri"/>
              </a:rPr>
              <a:t>Vision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E1E97C-183F-4C43-9D5C-012CBC0BE3B3}"/>
              </a:ext>
            </a:extLst>
          </p:cNvPr>
          <p:cNvSpPr/>
          <p:nvPr/>
        </p:nvSpPr>
        <p:spPr>
          <a:xfrm>
            <a:off x="461639" y="6356412"/>
            <a:ext cx="1864311" cy="25745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857836-704A-46C0-9C33-0A4A63BEFA49}"/>
              </a:ext>
            </a:extLst>
          </p:cNvPr>
          <p:cNvSpPr/>
          <p:nvPr/>
        </p:nvSpPr>
        <p:spPr>
          <a:xfrm>
            <a:off x="6436234" y="399963"/>
            <a:ext cx="4778224" cy="945065"/>
          </a:xfrm>
          <a:prstGeom prst="rect">
            <a:avLst/>
          </a:prstGeom>
          <a:solidFill>
            <a:srgbClr val="E6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82880" algn="ctr">
              <a:spcBef>
                <a:spcPts val="600"/>
              </a:spcBef>
              <a:spcAft>
                <a:spcPts val="600"/>
              </a:spcAft>
            </a:pPr>
            <a:r>
              <a:rPr lang="en-US" sz="4400">
                <a:solidFill>
                  <a:srgbClr val="676767"/>
                </a:solidFill>
                <a:latin typeface="Calibri"/>
                <a:ea typeface="Open Sans Semibold"/>
                <a:cs typeface="Calibri"/>
              </a:rPr>
              <a:t>Mission</a:t>
            </a:r>
          </a:p>
        </p:txBody>
      </p:sp>
      <p:sp>
        <p:nvSpPr>
          <p:cNvPr id="7" name="Shape 240">
            <a:extLst>
              <a:ext uri="{FF2B5EF4-FFF2-40B4-BE49-F238E27FC236}">
                <a16:creationId xmlns:a16="http://schemas.microsoft.com/office/drawing/2014/main" id="{906FA3A0-E66D-4615-B705-69DC5BE42958}"/>
              </a:ext>
            </a:extLst>
          </p:cNvPr>
          <p:cNvSpPr txBox="1">
            <a:spLocks/>
          </p:cNvSpPr>
          <p:nvPr/>
        </p:nvSpPr>
        <p:spPr>
          <a:xfrm>
            <a:off x="6357406" y="1712910"/>
            <a:ext cx="4544290" cy="18859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pPr marL="182880" algn="ctr">
              <a:spcBef>
                <a:spcPts val="600"/>
              </a:spcBef>
              <a:spcAft>
                <a:spcPts val="600"/>
              </a:spcAft>
            </a:pPr>
            <a:r>
              <a:rPr lang="en-US" sz="3200">
                <a:solidFill>
                  <a:schemeClr val="tx2"/>
                </a:solidFill>
                <a:ea typeface="Open Sans Light"/>
                <a:cs typeface="Open Sans Light"/>
              </a:rPr>
              <a:t>Disrupt the industry by creating a whole transformed ecosystem </a:t>
            </a:r>
            <a:r>
              <a:rPr lang="en-US" sz="3200" b="1">
                <a:solidFill>
                  <a:schemeClr val="tx2"/>
                </a:solidFill>
                <a:ea typeface="Open Sans Semibold"/>
                <a:cs typeface="Open Sans Semibold"/>
              </a:rPr>
              <a:t> </a:t>
            </a:r>
            <a:endParaRPr lang="en-US" sz="3200" b="1">
              <a:solidFill>
                <a:schemeClr val="tx2"/>
              </a:solidFill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3FA18D-DE33-47B8-AC55-ABE5975DD16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960" t="13305" r="28204" b="2534"/>
          <a:stretch/>
        </p:blipFill>
        <p:spPr>
          <a:xfrm>
            <a:off x="7455084" y="3594528"/>
            <a:ext cx="3759374" cy="31872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856735" y="1333298"/>
            <a:ext cx="2712916" cy="579919"/>
          </a:xfrm>
          <a:prstGeom prst="rect">
            <a:avLst/>
          </a:prstGeom>
          <a:solidFill>
            <a:srgbClr val="E6E7E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>
                <a:solidFill>
                  <a:srgbClr val="676767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Value Proposition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39542" y="1299554"/>
            <a:ext cx="2712916" cy="579919"/>
          </a:xfrm>
          <a:prstGeom prst="rect">
            <a:avLst/>
          </a:prstGeom>
          <a:solidFill>
            <a:srgbClr val="E6E7E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>
                <a:solidFill>
                  <a:srgbClr val="676767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Why </a:t>
            </a:r>
            <a:r>
              <a:rPr lang="en-US" err="1">
                <a:solidFill>
                  <a:srgbClr val="676767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Prixled</a:t>
            </a:r>
            <a:r>
              <a:rPr lang="en-US">
                <a:solidFill>
                  <a:srgbClr val="676767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22349" y="1333298"/>
            <a:ext cx="2712916" cy="579919"/>
          </a:xfrm>
          <a:prstGeom prst="rect">
            <a:avLst/>
          </a:prstGeom>
          <a:solidFill>
            <a:srgbClr val="E6E7E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>
                <a:solidFill>
                  <a:srgbClr val="676767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How </a:t>
            </a:r>
            <a:r>
              <a:rPr lang="en-US" err="1">
                <a:solidFill>
                  <a:srgbClr val="676767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Prixled</a:t>
            </a:r>
            <a:r>
              <a:rPr lang="en-US">
                <a:solidFill>
                  <a:srgbClr val="676767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can revolutionize ?</a:t>
            </a:r>
          </a:p>
        </p:txBody>
      </p:sp>
      <p:sp>
        <p:nvSpPr>
          <p:cNvPr id="79" name="Shape 240"/>
          <p:cNvSpPr txBox="1">
            <a:spLocks/>
          </p:cNvSpPr>
          <p:nvPr/>
        </p:nvSpPr>
        <p:spPr>
          <a:xfrm>
            <a:off x="1524000" y="642230"/>
            <a:ext cx="9144000" cy="3407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rgbClr val="132E5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sz="28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Open Sans"/>
              </a:rPr>
              <a:t>Introducing Prixled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33D32-057E-41AC-AE8B-5DE958F9F5BD}"/>
              </a:ext>
            </a:extLst>
          </p:cNvPr>
          <p:cNvSpPr/>
          <p:nvPr/>
        </p:nvSpPr>
        <p:spPr>
          <a:xfrm>
            <a:off x="461639" y="6374167"/>
            <a:ext cx="1970843" cy="1953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1CB002F-04EA-4322-8F2B-325D2C0ABF58}"/>
              </a:ext>
            </a:extLst>
          </p:cNvPr>
          <p:cNvSpPr txBox="1"/>
          <p:nvPr/>
        </p:nvSpPr>
        <p:spPr>
          <a:xfrm>
            <a:off x="38527" y="2227334"/>
            <a:ext cx="4349331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>
                    <a:lumMod val="75000"/>
                  </a:schemeClr>
                </a:solidFill>
              </a:rPr>
              <a:t>H</a:t>
            </a:r>
            <a:r>
              <a:rPr lang="en-IN" sz="1800">
                <a:solidFill>
                  <a:schemeClr val="tx1">
                    <a:lumMod val="75000"/>
                  </a:schemeClr>
                </a:solidFill>
              </a:rPr>
              <a:t>assle free “</a:t>
            </a:r>
            <a:r>
              <a:rPr lang="en-IN" sz="1800" err="1">
                <a:solidFill>
                  <a:schemeClr val="tx1">
                    <a:lumMod val="75000"/>
                  </a:schemeClr>
                </a:solidFill>
              </a:rPr>
              <a:t>Artilog</a:t>
            </a:r>
            <a:r>
              <a:rPr lang="en-IN" sz="1800">
                <a:solidFill>
                  <a:schemeClr val="tx1">
                    <a:lumMod val="75000"/>
                  </a:schemeClr>
                </a:solidFill>
              </a:rPr>
              <a:t>” creation</a:t>
            </a:r>
            <a:endParaRPr lang="en-IN" sz="1800">
              <a:solidFill>
                <a:schemeClr val="tx1">
                  <a:lumMod val="75000"/>
                </a:schemeClr>
              </a:solidFill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>
                    <a:lumMod val="75000"/>
                  </a:schemeClr>
                </a:solidFill>
              </a:rPr>
              <a:t>A</a:t>
            </a:r>
            <a:r>
              <a:rPr lang="en-IN" sz="1800">
                <a:solidFill>
                  <a:schemeClr val="tx1">
                    <a:lumMod val="75000"/>
                  </a:schemeClr>
                </a:solidFill>
              </a:rPr>
              <a:t> pinnacle of quality content</a:t>
            </a:r>
            <a:endParaRPr lang="en-IN" sz="1800">
              <a:solidFill>
                <a:schemeClr val="tx1">
                  <a:lumMod val="75000"/>
                </a:schemeClr>
              </a:solidFill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>
                    <a:lumMod val="75000"/>
                  </a:schemeClr>
                </a:solidFill>
              </a:rPr>
              <a:t>M</a:t>
            </a:r>
            <a:r>
              <a:rPr lang="en-IN" sz="1800">
                <a:solidFill>
                  <a:schemeClr val="tx1">
                    <a:lumMod val="75000"/>
                  </a:schemeClr>
                </a:solidFill>
              </a:rPr>
              <a:t>onetize your content</a:t>
            </a:r>
            <a:endParaRPr lang="en-IN" sz="1800">
              <a:solidFill>
                <a:schemeClr val="tx1">
                  <a:lumMod val="75000"/>
                </a:schemeClr>
              </a:solidFill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>
                <a:solidFill>
                  <a:schemeClr val="tx1">
                    <a:lumMod val="75000"/>
                  </a:schemeClr>
                </a:solidFill>
              </a:rPr>
              <a:t>Involves proofreading </a:t>
            </a:r>
            <a:endParaRPr lang="en-IN" sz="1800">
              <a:solidFill>
                <a:schemeClr val="tx1">
                  <a:lumMod val="75000"/>
                </a:schemeClr>
              </a:solidFill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>
                    <a:lumMod val="75000"/>
                  </a:schemeClr>
                </a:solidFill>
              </a:rPr>
              <a:t>Build S</a:t>
            </a:r>
            <a:r>
              <a:rPr lang="en-IN" sz="1800">
                <a:solidFill>
                  <a:schemeClr val="tx1">
                    <a:lumMod val="75000"/>
                  </a:schemeClr>
                </a:solidFill>
              </a:rPr>
              <a:t>ocial community</a:t>
            </a:r>
            <a:endParaRPr lang="en-IN" sz="1800">
              <a:solidFill>
                <a:schemeClr val="tx1">
                  <a:lumMod val="75000"/>
                </a:schemeClr>
              </a:solidFill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>
                <a:solidFill>
                  <a:schemeClr val="tx1">
                    <a:lumMod val="75000"/>
                  </a:schemeClr>
                </a:solidFill>
              </a:rPr>
              <a:t>Offers </a:t>
            </a:r>
            <a:r>
              <a:rPr lang="en-IN">
                <a:solidFill>
                  <a:schemeClr val="tx1">
                    <a:lumMod val="75000"/>
                  </a:schemeClr>
                </a:solidFill>
              </a:rPr>
              <a:t>ample </a:t>
            </a:r>
            <a:r>
              <a:rPr lang="en-IN" sz="1800">
                <a:solidFill>
                  <a:schemeClr val="tx1">
                    <a:lumMod val="75000"/>
                  </a:schemeClr>
                </a:solidFill>
              </a:rPr>
              <a:t>customizable templates</a:t>
            </a:r>
            <a:endParaRPr lang="en-IN" sz="1800">
              <a:solidFill>
                <a:schemeClr val="tx1">
                  <a:lumMod val="75000"/>
                </a:schemeClr>
              </a:solidFill>
              <a:cs typeface="Calibri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0567D18-CD75-4948-B87C-0945A11283A1}"/>
              </a:ext>
            </a:extLst>
          </p:cNvPr>
          <p:cNvSpPr txBox="1"/>
          <p:nvPr/>
        </p:nvSpPr>
        <p:spPr>
          <a:xfrm>
            <a:off x="3845915" y="2232423"/>
            <a:ext cx="4074312" cy="31393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742950" lvl="1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Perfect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product for</a:t>
            </a:r>
            <a:r>
              <a:rPr lang="en-US" sz="1800">
                <a:ea typeface="+mn-lt"/>
                <a:cs typeface="+mn-lt"/>
              </a:rPr>
              <a:t> disruption in the blogging industry. </a:t>
            </a:r>
            <a:endParaRPr lang="en-IN">
              <a:ea typeface="+mn-lt"/>
              <a:cs typeface="+mn-lt"/>
            </a:endParaRPr>
          </a:p>
          <a:p>
            <a:pPr marL="742950" lvl="1" indent="-285750">
              <a:buFont typeface="Wingdings"/>
              <a:buChar char="§"/>
            </a:pPr>
            <a:r>
              <a:rPr lang="en-IN">
                <a:ea typeface="+mn-lt"/>
                <a:cs typeface="+mn-lt"/>
              </a:rPr>
              <a:t>Redefining the $400 billion industry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Focus on content</a:t>
            </a:r>
            <a:r>
              <a:rPr lang="en-US" sz="1800">
                <a:ea typeface="+mn-lt"/>
                <a:cs typeface="+mn-lt"/>
              </a:rPr>
              <a:t> excellence</a:t>
            </a:r>
            <a:endParaRPr lang="en-IN">
              <a:ea typeface="+mn-lt"/>
              <a:cs typeface="+mn-lt"/>
            </a:endParaRPr>
          </a:p>
          <a:p>
            <a:pPr marL="742950" lvl="1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Equal</a:t>
            </a:r>
            <a:r>
              <a:rPr lang="en-US" sz="1800">
                <a:ea typeface="+mn-lt"/>
                <a:cs typeface="+mn-lt"/>
              </a:rPr>
              <a:t> opportunities</a:t>
            </a:r>
            <a:r>
              <a:rPr lang="en-US">
                <a:ea typeface="+mn-lt"/>
                <a:cs typeface="+mn-lt"/>
              </a:rPr>
              <a:t> for every blogger</a:t>
            </a:r>
            <a:endParaRPr lang="en-IN">
              <a:ea typeface="+mn-lt"/>
              <a:cs typeface="+mn-lt"/>
            </a:endParaRPr>
          </a:p>
          <a:p>
            <a:pPr marL="742950" lvl="1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Unique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features</a:t>
            </a:r>
            <a:endParaRPr lang="en-IN">
              <a:ea typeface="+mn-lt"/>
              <a:cs typeface="+mn-lt"/>
            </a:endParaRPr>
          </a:p>
          <a:p>
            <a:pPr marL="742950" lvl="1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Integration</a:t>
            </a:r>
            <a:r>
              <a:rPr lang="en-US" sz="1800">
                <a:ea typeface="+mn-lt"/>
                <a:cs typeface="+mn-lt"/>
              </a:rPr>
              <a:t> of </a:t>
            </a:r>
            <a:r>
              <a:rPr lang="en-US">
                <a:ea typeface="+mn-lt"/>
                <a:cs typeface="+mn-lt"/>
              </a:rPr>
              <a:t>services</a:t>
            </a:r>
            <a:endParaRPr lang="en-IN">
              <a:ea typeface="+mn-lt"/>
              <a:cs typeface="+mn-lt"/>
            </a:endParaRPr>
          </a:p>
          <a:p>
            <a:pPr marL="742950" lvl="1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Giving power</a:t>
            </a:r>
            <a:r>
              <a:rPr lang="en-US" sz="1800">
                <a:ea typeface="+mn-lt"/>
                <a:cs typeface="+mn-lt"/>
              </a:rPr>
              <a:t> to the people.</a:t>
            </a:r>
            <a:endParaRPr lang="en-IN" sz="1800">
              <a:ea typeface="+mn-lt"/>
              <a:cs typeface="+mn-lt"/>
            </a:endParaRPr>
          </a:p>
          <a:p>
            <a:pPr lvl="1"/>
            <a:endParaRPr lang="en-US">
              <a:ea typeface="+mn-lt"/>
              <a:cs typeface="+mn-lt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90B118F-FBC7-4DA2-BA1B-1AE78E479840}"/>
              </a:ext>
            </a:extLst>
          </p:cNvPr>
          <p:cNvSpPr txBox="1"/>
          <p:nvPr/>
        </p:nvSpPr>
        <p:spPr>
          <a:xfrm>
            <a:off x="8026460" y="2157818"/>
            <a:ext cx="3904694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/>
              <a:t>Fancy &amp; user-friendly interface</a:t>
            </a:r>
            <a:endParaRPr lang="en-IN">
              <a:cs typeface="Calibri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/>
              <a:t>Not just a platform but a community</a:t>
            </a:r>
            <a:endParaRPr lang="en-IN">
              <a:cs typeface="Calibri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/>
              <a:t>Personalized templates</a:t>
            </a:r>
            <a:endParaRPr lang="en-IN">
              <a:cs typeface="Calibri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/>
              <a:t>Peer engagement through proofreading | badges | Prix coins</a:t>
            </a:r>
            <a:endParaRPr lang="en-IN">
              <a:cs typeface="Calibri"/>
            </a:endParaRPr>
          </a:p>
        </p:txBody>
      </p:sp>
      <p:sp>
        <p:nvSpPr>
          <p:cNvPr id="10" name="Shape 240">
            <a:extLst>
              <a:ext uri="{FF2B5EF4-FFF2-40B4-BE49-F238E27FC236}">
                <a16:creationId xmlns:a16="http://schemas.microsoft.com/office/drawing/2014/main" id="{8616BAC6-ED97-487A-827B-38782129E80B}"/>
              </a:ext>
            </a:extLst>
          </p:cNvPr>
          <p:cNvSpPr txBox="1">
            <a:spLocks/>
          </p:cNvSpPr>
          <p:nvPr/>
        </p:nvSpPr>
        <p:spPr>
          <a:xfrm>
            <a:off x="1392871" y="5724694"/>
            <a:ext cx="3422073" cy="340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rgbClr val="132E5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sz="24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Open Sans"/>
              </a:rPr>
              <a:t>Unique Business Model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4E709F-81C8-4561-914B-D706AE382F5A}"/>
              </a:ext>
            </a:extLst>
          </p:cNvPr>
          <p:cNvGrpSpPr/>
          <p:nvPr/>
        </p:nvGrpSpPr>
        <p:grpSpPr>
          <a:xfrm>
            <a:off x="5296952" y="5219662"/>
            <a:ext cx="5352783" cy="1459984"/>
            <a:chOff x="4495816" y="5353372"/>
            <a:chExt cx="5352783" cy="145998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C98B86-77F4-4A92-9029-A094D726E75F}"/>
                </a:ext>
              </a:extLst>
            </p:cNvPr>
            <p:cNvSpPr txBox="1"/>
            <p:nvPr/>
          </p:nvSpPr>
          <p:spPr>
            <a:xfrm>
              <a:off x="4495816" y="5371744"/>
              <a:ext cx="2313833" cy="553998"/>
            </a:xfrm>
            <a:prstGeom prst="rect">
              <a:avLst/>
            </a:prstGeom>
            <a:solidFill>
              <a:srgbClr val="E6E7E7"/>
            </a:solidFill>
          </p:spPr>
          <p:txBody>
            <a:bodyPr wrap="square" rtlCol="0">
              <a:spAutoFit/>
            </a:bodyPr>
            <a:lstStyle/>
            <a:p>
              <a:r>
                <a:rPr lang="en-CA" sz="1500">
                  <a:solidFill>
                    <a:srgbClr val="676767"/>
                  </a:solidFill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Create</a:t>
              </a:r>
            </a:p>
            <a:p>
              <a:r>
                <a:rPr lang="en-CA" sz="1500">
                  <a:solidFill>
                    <a:srgbClr val="676767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Beautiful content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AD339F-6020-415B-B62C-24AE5F9F1A74}"/>
                </a:ext>
              </a:extLst>
            </p:cNvPr>
            <p:cNvSpPr txBox="1"/>
            <p:nvPr/>
          </p:nvSpPr>
          <p:spPr>
            <a:xfrm>
              <a:off x="7291657" y="5353372"/>
              <a:ext cx="2556942" cy="553998"/>
            </a:xfrm>
            <a:prstGeom prst="rect">
              <a:avLst/>
            </a:prstGeom>
            <a:solidFill>
              <a:srgbClr val="E6E7E7"/>
            </a:solidFill>
          </p:spPr>
          <p:txBody>
            <a:bodyPr wrap="square" rtlCol="0">
              <a:spAutoFit/>
            </a:bodyPr>
            <a:lstStyle/>
            <a:p>
              <a:r>
                <a:rPr lang="en-CA" sz="1500">
                  <a:solidFill>
                    <a:srgbClr val="676767"/>
                  </a:solidFill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Badges</a:t>
              </a:r>
            </a:p>
            <a:p>
              <a:r>
                <a:rPr lang="en-CA" sz="1500">
                  <a:solidFill>
                    <a:srgbClr val="676767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Community engagement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EA1675-85AD-43D4-83F4-A30E7B456411}"/>
                </a:ext>
              </a:extLst>
            </p:cNvPr>
            <p:cNvSpPr txBox="1"/>
            <p:nvPr/>
          </p:nvSpPr>
          <p:spPr>
            <a:xfrm>
              <a:off x="7291657" y="6024935"/>
              <a:ext cx="2556942" cy="784830"/>
            </a:xfrm>
            <a:prstGeom prst="rect">
              <a:avLst/>
            </a:prstGeom>
            <a:solidFill>
              <a:srgbClr val="E6E7E7"/>
            </a:solidFill>
          </p:spPr>
          <p:txBody>
            <a:bodyPr wrap="square" rtlCol="0">
              <a:spAutoFit/>
            </a:bodyPr>
            <a:lstStyle/>
            <a:p>
              <a:r>
                <a:rPr lang="en-CA" sz="1500">
                  <a:solidFill>
                    <a:srgbClr val="676767"/>
                  </a:solidFill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Platform</a:t>
              </a:r>
            </a:p>
            <a:p>
              <a:r>
                <a:rPr lang="en-CA" sz="1500">
                  <a:solidFill>
                    <a:srgbClr val="676767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Hassle free &amp; Customizable Templates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3127C5-1DAB-4D7F-8969-BCF9B6DA1D65}"/>
                </a:ext>
              </a:extLst>
            </p:cNvPr>
            <p:cNvSpPr txBox="1"/>
            <p:nvPr/>
          </p:nvSpPr>
          <p:spPr>
            <a:xfrm>
              <a:off x="4495816" y="6028526"/>
              <a:ext cx="2313833" cy="784830"/>
            </a:xfrm>
            <a:prstGeom prst="rect">
              <a:avLst/>
            </a:prstGeom>
            <a:solidFill>
              <a:srgbClr val="E6E7E7"/>
            </a:solidFill>
          </p:spPr>
          <p:txBody>
            <a:bodyPr wrap="square" rtlCol="0">
              <a:spAutoFit/>
            </a:bodyPr>
            <a:lstStyle/>
            <a:p>
              <a:r>
                <a:rPr lang="en-CA" sz="1500">
                  <a:solidFill>
                    <a:srgbClr val="676767"/>
                  </a:solidFill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Earn &amp; Advertise</a:t>
              </a:r>
            </a:p>
            <a:p>
              <a:r>
                <a:rPr lang="en-CA" sz="1500">
                  <a:solidFill>
                    <a:srgbClr val="676767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Innovative monetization methods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3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 descr="Icon&#10;&#10;Description automatically generated">
            <a:extLst>
              <a:ext uri="{FF2B5EF4-FFF2-40B4-BE49-F238E27FC236}">
                <a16:creationId xmlns:a16="http://schemas.microsoft.com/office/drawing/2014/main" id="{A3066C30-A867-4ECC-A972-B1009236F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110" y="1074261"/>
            <a:ext cx="2076450" cy="1177018"/>
          </a:xfrm>
          <a:prstGeom prst="rect">
            <a:avLst/>
          </a:prstGeom>
        </p:spPr>
      </p:pic>
      <p:pic>
        <p:nvPicPr>
          <p:cNvPr id="19" name="Picture 19" descr="A picture containing calendar&#10;&#10;Description automatically generated">
            <a:extLst>
              <a:ext uri="{FF2B5EF4-FFF2-40B4-BE49-F238E27FC236}">
                <a16:creationId xmlns:a16="http://schemas.microsoft.com/office/drawing/2014/main" id="{EF19466D-8E92-4AC0-BAC9-7070D1B72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0641" y="529623"/>
            <a:ext cx="1990725" cy="1314450"/>
          </a:xfrm>
          <a:prstGeom prst="rect">
            <a:avLst/>
          </a:prstGeom>
        </p:spPr>
      </p:pic>
      <p:pic>
        <p:nvPicPr>
          <p:cNvPr id="20" name="Picture 20" descr="A picture containing computer, keyboard, table, desk&#10;&#10;Description automatically generated">
            <a:extLst>
              <a:ext uri="{FF2B5EF4-FFF2-40B4-BE49-F238E27FC236}">
                <a16:creationId xmlns:a16="http://schemas.microsoft.com/office/drawing/2014/main" id="{6814CE36-174D-4D4C-AB6B-7D9FD9D98C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8625" y="5053013"/>
            <a:ext cx="1619250" cy="1009650"/>
          </a:xfrm>
          <a:prstGeom prst="rect">
            <a:avLst/>
          </a:prstGeom>
        </p:spPr>
      </p:pic>
      <p:pic>
        <p:nvPicPr>
          <p:cNvPr id="21" name="Picture 21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3926A859-00A0-452A-A558-86D3294DDE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0" y="4351712"/>
            <a:ext cx="2743200" cy="16236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89AA78-2939-4942-A529-9C5DAA55F3A8}"/>
              </a:ext>
            </a:extLst>
          </p:cNvPr>
          <p:cNvSpPr txBox="1"/>
          <p:nvPr/>
        </p:nvSpPr>
        <p:spPr>
          <a:xfrm>
            <a:off x="447675" y="1028700"/>
            <a:ext cx="5200650" cy="32008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Calibri"/>
              </a:rPr>
              <a:t>Reduced attention span </a:t>
            </a:r>
            <a:r>
              <a:rPr lang="en-US" b="1">
                <a:cs typeface="Calibri"/>
              </a:rPr>
              <a:t>of </a:t>
            </a:r>
            <a:r>
              <a:rPr lang="en-US" b="1" dirty="0">
                <a:cs typeface="Calibri"/>
              </a:rPr>
              <a:t>audience</a:t>
            </a:r>
            <a:r>
              <a:rPr lang="en-US" b="1">
                <a:cs typeface="Calibri"/>
              </a:rPr>
              <a:t>:</a:t>
            </a:r>
          </a:p>
          <a:p>
            <a:endParaRPr lang="en-US" b="1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Attention span of users is at a historic low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Keeping audience engaged is still </a:t>
            </a:r>
            <a:r>
              <a:rPr lang="en-US" sz="1400">
                <a:cs typeface="Calibri"/>
              </a:rPr>
              <a:t>a </a:t>
            </a:r>
            <a:r>
              <a:rPr lang="en-US" sz="1400" dirty="0">
                <a:cs typeface="Calibri"/>
              </a:rPr>
              <a:t>problem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Engaging </a:t>
            </a:r>
            <a:r>
              <a:rPr lang="en-US" sz="1400">
                <a:cs typeface="Calibri"/>
              </a:rPr>
              <a:t>new </a:t>
            </a:r>
            <a:r>
              <a:rPr lang="en-US" sz="1400" dirty="0">
                <a:cs typeface="Calibri"/>
              </a:rPr>
              <a:t>audiences is a </a:t>
            </a:r>
            <a:r>
              <a:rPr lang="en-US" sz="1400">
                <a:cs typeface="Calibri"/>
              </a:rPr>
              <a:t>difficult</a:t>
            </a:r>
            <a:r>
              <a:rPr lang="en-US" sz="1400" dirty="0">
                <a:cs typeface="Calibri"/>
              </a:rPr>
              <a:t> task</a:t>
            </a:r>
            <a:endParaRPr lang="en-US" sz="1400">
              <a:cs typeface="Calibri"/>
            </a:endParaRPr>
          </a:p>
          <a:p>
            <a:endParaRPr lang="en-US" sz="1400">
              <a:cs typeface="Calibri"/>
            </a:endParaRPr>
          </a:p>
          <a:p>
            <a:r>
              <a:rPr lang="en-US" b="1" dirty="0" err="1">
                <a:cs typeface="Calibri"/>
              </a:rPr>
              <a:t>Prixled</a:t>
            </a:r>
            <a:r>
              <a:rPr lang="en-US" b="1" dirty="0">
                <a:cs typeface="Calibri"/>
              </a:rPr>
              <a:t> </a:t>
            </a:r>
            <a:r>
              <a:rPr lang="en-US" b="1">
                <a:cs typeface="Calibri"/>
              </a:rPr>
              <a:t>Solution:</a:t>
            </a:r>
          </a:p>
          <a:p>
            <a:endParaRPr lang="en-US" b="1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cs typeface="Calibri"/>
              </a:rPr>
              <a:t>With </a:t>
            </a:r>
            <a:r>
              <a:rPr lang="en-US" sz="1400" dirty="0">
                <a:cs typeface="Calibri"/>
              </a:rPr>
              <a:t>changing times</a:t>
            </a:r>
            <a:r>
              <a:rPr lang="en-US" sz="1400">
                <a:cs typeface="Calibri"/>
              </a:rPr>
              <a:t>, </a:t>
            </a:r>
            <a:r>
              <a:rPr lang="en-US" sz="1400" dirty="0">
                <a:cs typeface="Calibri"/>
              </a:rPr>
              <a:t>there is a need to make </a:t>
            </a:r>
            <a:r>
              <a:rPr lang="en-US" sz="1400" dirty="0" err="1">
                <a:cs typeface="Calibri"/>
              </a:rPr>
              <a:t>artilogs</a:t>
            </a:r>
            <a:r>
              <a:rPr lang="en-US" sz="1400" dirty="0">
                <a:cs typeface="Calibri"/>
              </a:rPr>
              <a:t> smaller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Provide </a:t>
            </a:r>
            <a:r>
              <a:rPr lang="en-US" sz="1400">
                <a:cs typeface="Calibri"/>
              </a:rPr>
              <a:t>audience </a:t>
            </a:r>
            <a:r>
              <a:rPr lang="en-US" sz="1400" dirty="0">
                <a:cs typeface="Calibri"/>
              </a:rPr>
              <a:t>with variety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Make </a:t>
            </a:r>
            <a:r>
              <a:rPr lang="en-US" sz="1400" dirty="0" err="1">
                <a:cs typeface="Calibri"/>
              </a:rPr>
              <a:t>artilogs</a:t>
            </a:r>
            <a:r>
              <a:rPr lang="en-US" sz="1400" dirty="0">
                <a:cs typeface="Calibri"/>
              </a:rPr>
              <a:t> more engaging with relevant content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>
                <a:cs typeface="Calibri"/>
              </a:rPr>
              <a:t>Artilog</a:t>
            </a:r>
            <a:r>
              <a:rPr lang="en-US" sz="1400" dirty="0">
                <a:cs typeface="Calibri"/>
              </a:rPr>
              <a:t> beautification with diverse themes</a:t>
            </a:r>
            <a:endParaRPr lang="en-US" sz="1400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4FE9A2-7DAE-4D6F-923C-0446205C4890}"/>
              </a:ext>
            </a:extLst>
          </p:cNvPr>
          <p:cNvSpPr txBox="1"/>
          <p:nvPr/>
        </p:nvSpPr>
        <p:spPr>
          <a:xfrm>
            <a:off x="342900" y="3981450"/>
            <a:ext cx="5410200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Social media dominance</a:t>
            </a:r>
            <a:r>
              <a:rPr lang="en-US" b="1"/>
              <a:t>:</a:t>
            </a:r>
          </a:p>
          <a:p>
            <a:endParaRPr lang="en-US" b="1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Social media dominates over reading blogs/articles on web</a:t>
            </a:r>
            <a:endParaRPr lang="en-US" sz="14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People tend to gravitate towards videos over paragraphs</a:t>
            </a:r>
            <a:endParaRPr lang="en-US" sz="1400">
              <a:cs typeface="Calibri"/>
            </a:endParaRPr>
          </a:p>
          <a:p>
            <a:endParaRPr lang="en-US" sz="1400">
              <a:cs typeface="Calibri"/>
            </a:endParaRPr>
          </a:p>
          <a:p>
            <a:r>
              <a:rPr lang="en-US" b="1" dirty="0" err="1">
                <a:cs typeface="Calibri"/>
              </a:rPr>
              <a:t>Prixled</a:t>
            </a:r>
            <a:r>
              <a:rPr lang="en-US" b="1" dirty="0">
                <a:cs typeface="Calibri"/>
              </a:rPr>
              <a:t> </a:t>
            </a:r>
            <a:r>
              <a:rPr lang="en-US" b="1">
                <a:cs typeface="Calibri"/>
              </a:rPr>
              <a:t>Solution:</a:t>
            </a:r>
          </a:p>
          <a:p>
            <a:endParaRPr lang="en-US" b="1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Make engaging and relevant content 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Ride with the trends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Use of colorful </a:t>
            </a:r>
            <a:r>
              <a:rPr lang="en-US" sz="1400">
                <a:cs typeface="Calibri"/>
              </a:rPr>
              <a:t>and </a:t>
            </a:r>
            <a:r>
              <a:rPr lang="en-US" sz="1400" dirty="0">
                <a:cs typeface="Calibri"/>
              </a:rPr>
              <a:t>diverse themes to attract audiences</a:t>
            </a:r>
            <a:endParaRPr lang="en-US" sz="1400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E133C0-5C7F-4424-946B-7786A5DCA986}"/>
              </a:ext>
            </a:extLst>
          </p:cNvPr>
          <p:cNvSpPr txBox="1"/>
          <p:nvPr/>
        </p:nvSpPr>
        <p:spPr>
          <a:xfrm>
            <a:off x="6048375" y="923925"/>
            <a:ext cx="4362450" cy="2923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Calibri"/>
              </a:rPr>
              <a:t>Beating the search Algorithm</a:t>
            </a:r>
            <a:r>
              <a:rPr lang="en-US" b="1">
                <a:cs typeface="Calibri"/>
              </a:rPr>
              <a:t>:</a:t>
            </a:r>
          </a:p>
          <a:p>
            <a:endParaRPr lang="en-US" b="1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The success of any </a:t>
            </a:r>
            <a:r>
              <a:rPr lang="en-US" sz="1400" dirty="0" err="1">
                <a:cs typeface="Calibri"/>
              </a:rPr>
              <a:t>artilog</a:t>
            </a:r>
            <a:r>
              <a:rPr lang="en-US" sz="1400" dirty="0">
                <a:cs typeface="Calibri"/>
              </a:rPr>
              <a:t> depends on the search algorithm </a:t>
            </a:r>
            <a:r>
              <a:rPr lang="en-US" sz="1400">
                <a:cs typeface="Calibri"/>
              </a:rPr>
              <a:t>of </a:t>
            </a:r>
            <a:r>
              <a:rPr lang="en-US" sz="1400" dirty="0">
                <a:cs typeface="Calibri"/>
              </a:rPr>
              <a:t>popular search engines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Some excellent articles might not make it to the top in results</a:t>
            </a:r>
            <a:endParaRPr lang="en-US" sz="1400"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400">
              <a:cs typeface="Calibri"/>
            </a:endParaRPr>
          </a:p>
          <a:p>
            <a:r>
              <a:rPr lang="en-US" b="1" dirty="0" err="1">
                <a:cs typeface="Calibri"/>
              </a:rPr>
              <a:t>Prixled</a:t>
            </a:r>
            <a:r>
              <a:rPr lang="en-US" b="1" dirty="0">
                <a:cs typeface="Calibri"/>
              </a:rPr>
              <a:t> </a:t>
            </a:r>
            <a:r>
              <a:rPr lang="en-US" b="1">
                <a:cs typeface="Calibri"/>
              </a:rPr>
              <a:t>Solution:</a:t>
            </a:r>
          </a:p>
          <a:p>
            <a:endParaRPr lang="en-US" b="1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Releasing </a:t>
            </a:r>
            <a:r>
              <a:rPr lang="en-US" sz="1400" dirty="0" err="1">
                <a:cs typeface="Calibri"/>
              </a:rPr>
              <a:t>trendly</a:t>
            </a:r>
            <a:r>
              <a:rPr lang="en-US" sz="1400" dirty="0">
                <a:cs typeface="Calibri"/>
              </a:rPr>
              <a:t> blogs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Keeping up with current affairs and trends</a:t>
            </a:r>
            <a:endParaRPr lang="en-US" sz="14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Ensure good quality </a:t>
            </a:r>
            <a:r>
              <a:rPr lang="en-US" sz="1400">
                <a:cs typeface="Calibri"/>
              </a:rPr>
              <a:t>and </a:t>
            </a:r>
            <a:r>
              <a:rPr lang="en-US" sz="1400" dirty="0">
                <a:cs typeface="Calibri"/>
              </a:rPr>
              <a:t>trustable data</a:t>
            </a:r>
            <a:endParaRPr lang="en-US" sz="1400"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504D89-9023-42B6-A440-1BE9ABBA19E3}"/>
              </a:ext>
            </a:extLst>
          </p:cNvPr>
          <p:cNvSpPr txBox="1"/>
          <p:nvPr/>
        </p:nvSpPr>
        <p:spPr>
          <a:xfrm>
            <a:off x="6010274" y="3810000"/>
            <a:ext cx="5248275" cy="27084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Calibri"/>
              </a:rPr>
              <a:t>Competitive and crowded market</a:t>
            </a:r>
            <a:r>
              <a:rPr lang="en-US" b="1">
                <a:cs typeface="Calibri"/>
              </a:rPr>
              <a:t>:</a:t>
            </a:r>
          </a:p>
          <a:p>
            <a:endParaRPr lang="en-US" b="1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With every year, there are more blogging platforms</a:t>
            </a:r>
            <a:endParaRPr lang="en-US" sz="14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Competition to stay relevant with changing market</a:t>
            </a:r>
            <a:endParaRPr lang="en-US" sz="1400"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400">
              <a:cs typeface="Calibri"/>
            </a:endParaRPr>
          </a:p>
          <a:p>
            <a:r>
              <a:rPr lang="en-US" b="1" dirty="0" err="1">
                <a:cs typeface="Calibri"/>
              </a:rPr>
              <a:t>Prixled</a:t>
            </a:r>
            <a:r>
              <a:rPr lang="en-US" b="1" dirty="0">
                <a:cs typeface="Calibri"/>
              </a:rPr>
              <a:t> </a:t>
            </a:r>
            <a:r>
              <a:rPr lang="en-US" b="1">
                <a:cs typeface="Calibri"/>
              </a:rPr>
              <a:t>Solution:</a:t>
            </a:r>
          </a:p>
          <a:p>
            <a:endParaRPr lang="en-US" b="1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Unique product – the </a:t>
            </a:r>
            <a:r>
              <a:rPr lang="en-US" sz="1400" dirty="0" err="1">
                <a:cs typeface="Calibri"/>
              </a:rPr>
              <a:t>artilog</a:t>
            </a:r>
            <a:r>
              <a:rPr lang="en-US" sz="1400" dirty="0">
                <a:cs typeface="Calibri"/>
              </a:rPr>
              <a:t> to differentiate itself from the market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Fun and interactive </a:t>
            </a:r>
            <a:r>
              <a:rPr lang="en-US" sz="1400" dirty="0" err="1">
                <a:cs typeface="Calibri"/>
              </a:rPr>
              <a:t>arilog</a:t>
            </a:r>
            <a:r>
              <a:rPr lang="en-US" sz="1400" dirty="0">
                <a:cs typeface="Calibri"/>
              </a:rPr>
              <a:t> themes to get users immersed</a:t>
            </a:r>
            <a:endParaRPr lang="en-US" sz="14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cs typeface="Calibri"/>
              </a:rPr>
              <a:t>Relevant content and suggestions </a:t>
            </a:r>
            <a:r>
              <a:rPr lang="en-US" sz="1400">
                <a:cs typeface="Calibri"/>
              </a:rPr>
              <a:t>for </a:t>
            </a:r>
            <a:r>
              <a:rPr lang="en-US" sz="1400" dirty="0">
                <a:cs typeface="Calibri"/>
              </a:rPr>
              <a:t>users</a:t>
            </a:r>
            <a:endParaRPr lang="en-US" sz="1400"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89EBDB-DF77-450E-B5AA-95B9FEB74257}"/>
              </a:ext>
            </a:extLst>
          </p:cNvPr>
          <p:cNvSpPr txBox="1"/>
          <p:nvPr/>
        </p:nvSpPr>
        <p:spPr>
          <a:xfrm>
            <a:off x="447675" y="276225"/>
            <a:ext cx="526732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cs typeface="Calibri"/>
              </a:rPr>
              <a:t>ROADBLOCKS &amp; SOLUTION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5FB3BC-8E0F-4891-A715-1B9F780D83B1}"/>
              </a:ext>
            </a:extLst>
          </p:cNvPr>
          <p:cNvSpPr/>
          <p:nvPr/>
        </p:nvSpPr>
        <p:spPr>
          <a:xfrm>
            <a:off x="447675" y="6344239"/>
            <a:ext cx="1871319" cy="25182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9657184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40"/>
          <p:cNvSpPr txBox="1">
            <a:spLocks/>
          </p:cNvSpPr>
          <p:nvPr/>
        </p:nvSpPr>
        <p:spPr>
          <a:xfrm>
            <a:off x="628742" y="572058"/>
            <a:ext cx="3066138" cy="3407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rgbClr val="132E5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sz="32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Open Sans"/>
              </a:rPr>
              <a:t>Key Features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32EE46-725B-4BD8-A873-F395091F07A2}"/>
              </a:ext>
            </a:extLst>
          </p:cNvPr>
          <p:cNvSpPr/>
          <p:nvPr/>
        </p:nvSpPr>
        <p:spPr>
          <a:xfrm>
            <a:off x="417250" y="6374167"/>
            <a:ext cx="1890944" cy="340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C89C7F-0264-4A18-AA98-A847CD2C0639}"/>
              </a:ext>
            </a:extLst>
          </p:cNvPr>
          <p:cNvCxnSpPr/>
          <p:nvPr/>
        </p:nvCxnSpPr>
        <p:spPr>
          <a:xfrm>
            <a:off x="4405745" y="498764"/>
            <a:ext cx="27710" cy="5875403"/>
          </a:xfrm>
          <a:prstGeom prst="line">
            <a:avLst/>
          </a:prstGeom>
          <a:ln w="762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hape 240">
            <a:extLst>
              <a:ext uri="{FF2B5EF4-FFF2-40B4-BE49-F238E27FC236}">
                <a16:creationId xmlns:a16="http://schemas.microsoft.com/office/drawing/2014/main" id="{D455247E-308B-4905-8489-AC253AA0A3D5}"/>
              </a:ext>
            </a:extLst>
          </p:cNvPr>
          <p:cNvSpPr txBox="1">
            <a:spLocks/>
          </p:cNvSpPr>
          <p:nvPr/>
        </p:nvSpPr>
        <p:spPr>
          <a:xfrm>
            <a:off x="5847850" y="572058"/>
            <a:ext cx="4917132" cy="3407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rgbClr val="132E5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sz="32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Open Sans"/>
              </a:rPr>
              <a:t>How are we Different?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57A600-D90F-43A7-8E9B-65DFA5ECDA10}"/>
              </a:ext>
            </a:extLst>
          </p:cNvPr>
          <p:cNvSpPr txBox="1"/>
          <p:nvPr/>
        </p:nvSpPr>
        <p:spPr>
          <a:xfrm>
            <a:off x="5313329" y="1196893"/>
            <a:ext cx="6638092" cy="369332"/>
          </a:xfrm>
          <a:prstGeom prst="rect">
            <a:avLst/>
          </a:prstGeom>
          <a:solidFill>
            <a:srgbClr val="E6E7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solidFill>
                  <a:srgbClr val="1E2A39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Both FUN and PROFESSIONAL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D745ED-A3A2-4146-8B44-186F1A105066}"/>
              </a:ext>
            </a:extLst>
          </p:cNvPr>
          <p:cNvSpPr txBox="1"/>
          <p:nvPr/>
        </p:nvSpPr>
        <p:spPr>
          <a:xfrm>
            <a:off x="5313329" y="2003378"/>
            <a:ext cx="6638092" cy="369332"/>
          </a:xfrm>
          <a:prstGeom prst="rect">
            <a:avLst/>
          </a:prstGeom>
          <a:solidFill>
            <a:srgbClr val="E6E7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solidFill>
                  <a:srgbClr val="1E2A39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Neither just a Blog nor just a Article - </a:t>
            </a:r>
            <a:r>
              <a:rPr lang="en-CA" err="1">
                <a:solidFill>
                  <a:srgbClr val="1E2A39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Artilog</a:t>
            </a:r>
            <a:endParaRPr lang="en-CA">
              <a:solidFill>
                <a:srgbClr val="1E2A39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DDAFA6-CFEC-444E-930C-F897FB4FD391}"/>
              </a:ext>
            </a:extLst>
          </p:cNvPr>
          <p:cNvSpPr txBox="1"/>
          <p:nvPr/>
        </p:nvSpPr>
        <p:spPr>
          <a:xfrm>
            <a:off x="5313329" y="2816762"/>
            <a:ext cx="6638092" cy="369332"/>
          </a:xfrm>
          <a:prstGeom prst="rect">
            <a:avLst/>
          </a:prstGeom>
          <a:solidFill>
            <a:srgbClr val="E6E7E7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>
                <a:solidFill>
                  <a:srgbClr val="1E2A39"/>
                </a:solidFill>
                <a:latin typeface="Open Sans Semibold"/>
                <a:ea typeface="Open Sans Semibold"/>
                <a:cs typeface="Open Sans Semibold"/>
              </a:rPr>
              <a:t>No one is Judged – Be it a reader, writer or proofreaders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07FE27-F7C1-4794-BE8D-349D8E0373C8}"/>
              </a:ext>
            </a:extLst>
          </p:cNvPr>
          <p:cNvGrpSpPr/>
          <p:nvPr/>
        </p:nvGrpSpPr>
        <p:grpSpPr>
          <a:xfrm>
            <a:off x="5847850" y="4500707"/>
            <a:ext cx="5218445" cy="1955759"/>
            <a:chOff x="5677835" y="3593511"/>
            <a:chExt cx="5218445" cy="1955759"/>
          </a:xfrm>
        </p:grpSpPr>
        <p:sp>
          <p:nvSpPr>
            <p:cNvPr id="33" name="Shape 240">
              <a:extLst>
                <a:ext uri="{FF2B5EF4-FFF2-40B4-BE49-F238E27FC236}">
                  <a16:creationId xmlns:a16="http://schemas.microsoft.com/office/drawing/2014/main" id="{9A44BF38-5404-401E-A805-3486D2AFAAF4}"/>
                </a:ext>
              </a:extLst>
            </p:cNvPr>
            <p:cNvSpPr txBox="1">
              <a:spLocks/>
            </p:cNvSpPr>
            <p:nvPr/>
          </p:nvSpPr>
          <p:spPr>
            <a:xfrm>
              <a:off x="5979148" y="3593511"/>
              <a:ext cx="4917132" cy="34072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800" kern="1200">
                  <a:solidFill>
                    <a:srgbClr val="132E57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r>
                <a:rPr lang="en-US" sz="3200"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  <a:sym typeface="Open Sans"/>
                </a:rPr>
                <a:t>Our Competitors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A8908F79-ECC9-4976-B403-3FEB18946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7835" y="4253118"/>
              <a:ext cx="1309270" cy="416124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09A9A5E-C127-4583-9FDD-E791A3CFB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78040" y="4220579"/>
              <a:ext cx="1807700" cy="420727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13C1A3A2-C787-4569-8F59-DFAB9E881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4041" y="4916047"/>
              <a:ext cx="1234440" cy="44958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0FCE433-1223-4AD8-A2E2-568857CE0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6175" y="4915141"/>
              <a:ext cx="1347593" cy="429122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84A4BAF-C6C5-43A0-8F8F-7AFA568F2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6488" y="4712501"/>
              <a:ext cx="836769" cy="836769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F0CAF055-2816-49B5-9C13-33C0B1846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57379" y="4239267"/>
              <a:ext cx="938180" cy="350405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21FE827-91F8-4955-A715-7E54DFC74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3257" y="4865737"/>
              <a:ext cx="808889" cy="547754"/>
            </a:xfrm>
            <a:prstGeom prst="rect">
              <a:avLst/>
            </a:prstGeom>
          </p:spPr>
        </p:pic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9AD9FE8-51A5-4062-BBDC-6571EB661BE9}"/>
              </a:ext>
            </a:extLst>
          </p:cNvPr>
          <p:cNvSpPr txBox="1"/>
          <p:nvPr/>
        </p:nvSpPr>
        <p:spPr>
          <a:xfrm>
            <a:off x="5313329" y="3641221"/>
            <a:ext cx="6638092" cy="369332"/>
          </a:xfrm>
          <a:prstGeom prst="rect">
            <a:avLst/>
          </a:prstGeom>
          <a:solidFill>
            <a:srgbClr val="E6E7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1E2A39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Not just blogging, but a complete social media platform</a:t>
            </a:r>
            <a:r>
              <a:rPr lang="en-CA">
                <a:solidFill>
                  <a:srgbClr val="1E2A39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1D9571-3F9F-4345-9D35-7C465725E62E}"/>
              </a:ext>
            </a:extLst>
          </p:cNvPr>
          <p:cNvSpPr txBox="1"/>
          <p:nvPr/>
        </p:nvSpPr>
        <p:spPr>
          <a:xfrm>
            <a:off x="491126" y="1304615"/>
            <a:ext cx="3341369" cy="400110"/>
          </a:xfrm>
          <a:prstGeom prst="rect">
            <a:avLst/>
          </a:prstGeom>
          <a:solidFill>
            <a:srgbClr val="E6E7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000">
                <a:solidFill>
                  <a:srgbClr val="1E2A39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Proof Reading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ABB5BE-61B7-49AF-807F-4A5FCB7D351D}"/>
              </a:ext>
            </a:extLst>
          </p:cNvPr>
          <p:cNvSpPr txBox="1"/>
          <p:nvPr/>
        </p:nvSpPr>
        <p:spPr>
          <a:xfrm>
            <a:off x="491126" y="2111100"/>
            <a:ext cx="3341369" cy="400110"/>
          </a:xfrm>
          <a:prstGeom prst="rect">
            <a:avLst/>
          </a:prstGeom>
          <a:solidFill>
            <a:srgbClr val="E6E7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000">
                <a:solidFill>
                  <a:srgbClr val="1E2A39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Templates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D2E7E7-B156-48A8-AA56-5A491F9810C0}"/>
              </a:ext>
            </a:extLst>
          </p:cNvPr>
          <p:cNvSpPr txBox="1"/>
          <p:nvPr/>
        </p:nvSpPr>
        <p:spPr>
          <a:xfrm>
            <a:off x="491126" y="2924484"/>
            <a:ext cx="3341369" cy="400110"/>
          </a:xfrm>
          <a:prstGeom prst="rect">
            <a:avLst/>
          </a:prstGeom>
          <a:solidFill>
            <a:srgbClr val="E6E7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000">
                <a:solidFill>
                  <a:srgbClr val="1E2A39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Badges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1B242D-5A22-4629-BFBB-0EFE430AB550}"/>
              </a:ext>
            </a:extLst>
          </p:cNvPr>
          <p:cNvSpPr txBox="1"/>
          <p:nvPr/>
        </p:nvSpPr>
        <p:spPr>
          <a:xfrm>
            <a:off x="491126" y="3737868"/>
            <a:ext cx="3341369" cy="400110"/>
          </a:xfrm>
          <a:prstGeom prst="rect">
            <a:avLst/>
          </a:prstGeom>
          <a:solidFill>
            <a:srgbClr val="E6E7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000">
                <a:solidFill>
                  <a:srgbClr val="1E2A39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Hassle Free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696D13-A5BA-4AB9-B48A-5A51F59D6FBF}"/>
              </a:ext>
            </a:extLst>
          </p:cNvPr>
          <p:cNvSpPr txBox="1"/>
          <p:nvPr/>
        </p:nvSpPr>
        <p:spPr>
          <a:xfrm>
            <a:off x="491126" y="4579817"/>
            <a:ext cx="3341369" cy="400110"/>
          </a:xfrm>
          <a:prstGeom prst="rect">
            <a:avLst/>
          </a:prstGeom>
          <a:solidFill>
            <a:srgbClr val="E6E7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000">
                <a:solidFill>
                  <a:srgbClr val="1E2A39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Quality </a:t>
            </a:r>
            <a:r>
              <a:rPr lang="en-CA">
                <a:solidFill>
                  <a:srgbClr val="1E2A39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Content</a:t>
            </a:r>
            <a:endParaRPr lang="en-CA" sz="2000">
              <a:solidFill>
                <a:srgbClr val="1E2A39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8AC7C6-07A5-406D-B252-5CE3815DD811}"/>
              </a:ext>
            </a:extLst>
          </p:cNvPr>
          <p:cNvSpPr txBox="1"/>
          <p:nvPr/>
        </p:nvSpPr>
        <p:spPr>
          <a:xfrm>
            <a:off x="503297" y="5476992"/>
            <a:ext cx="3341369" cy="400110"/>
          </a:xfrm>
          <a:prstGeom prst="rect">
            <a:avLst/>
          </a:prstGeom>
          <a:solidFill>
            <a:srgbClr val="E6E7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000">
                <a:solidFill>
                  <a:srgbClr val="1E2A39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Innovative Monetization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34344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3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240"/>
          <p:cNvSpPr txBox="1">
            <a:spLocks/>
          </p:cNvSpPr>
          <p:nvPr/>
        </p:nvSpPr>
        <p:spPr>
          <a:xfrm>
            <a:off x="1524000" y="451142"/>
            <a:ext cx="9144000" cy="3407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rgbClr val="132E5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sz="28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Open Sans"/>
              </a:rPr>
              <a:t>Perceptual 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33D32-057E-41AC-AE8B-5DE958F9F5BD}"/>
              </a:ext>
            </a:extLst>
          </p:cNvPr>
          <p:cNvSpPr/>
          <p:nvPr/>
        </p:nvSpPr>
        <p:spPr>
          <a:xfrm>
            <a:off x="461639" y="6374167"/>
            <a:ext cx="1970843" cy="1953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C3A4F45-A882-4ECE-9CC4-28DA60F5DB7C}"/>
              </a:ext>
            </a:extLst>
          </p:cNvPr>
          <p:cNvGrpSpPr/>
          <p:nvPr/>
        </p:nvGrpSpPr>
        <p:grpSpPr>
          <a:xfrm>
            <a:off x="1040839" y="1057230"/>
            <a:ext cx="9488616" cy="5316937"/>
            <a:chOff x="1137821" y="1006521"/>
            <a:chExt cx="9916358" cy="5747505"/>
          </a:xfrm>
        </p:grpSpPr>
        <p:graphicFrame>
          <p:nvGraphicFramePr>
            <p:cNvPr id="20" name="Diagram 19">
              <a:extLst>
                <a:ext uri="{FF2B5EF4-FFF2-40B4-BE49-F238E27FC236}">
                  <a16:creationId xmlns:a16="http://schemas.microsoft.com/office/drawing/2014/main" id="{34E74C00-0563-40DE-95C9-9F7CA8694FD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24970411"/>
                </p:ext>
              </p:extLst>
            </p:nvPr>
          </p:nvGraphicFramePr>
          <p:xfrm>
            <a:off x="1137821" y="1006521"/>
            <a:ext cx="9916358" cy="574750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26DE5C5-FA05-451B-9E42-C42F8A947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01361" y="1708122"/>
              <a:ext cx="1807700" cy="420727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CB6C54A-9708-4E48-9536-6CDA99295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65859" y="2305642"/>
              <a:ext cx="1234440" cy="44958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D12BA81-DD1B-4D94-8C12-12FA7F4F9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0442" y="5616897"/>
              <a:ext cx="1347593" cy="42912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163204C-6716-46F4-9B6B-7F210500F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82977" y="4941328"/>
              <a:ext cx="836769" cy="836769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A0CCA65-B66F-4F73-BE6C-1F3C239C8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6825" y="4237337"/>
              <a:ext cx="938180" cy="350405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66F613E-14CB-4347-9970-93A357FA5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91288" y="1178438"/>
              <a:ext cx="1309270" cy="41612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4E3FA5A-0242-4C7F-9E9A-88A58AC38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6435" y="4587742"/>
              <a:ext cx="1425426" cy="83676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31E1974-BFE7-44D6-8EB0-91A53EFCC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201361" y="1281990"/>
              <a:ext cx="1897380" cy="411480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96264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52830" y="1292938"/>
            <a:ext cx="2965621" cy="579919"/>
          </a:xfrm>
          <a:prstGeom prst="rect">
            <a:avLst/>
          </a:prstGeom>
          <a:solidFill>
            <a:srgbClr val="E6E7E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676767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Target Audience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5440" y="1292938"/>
            <a:ext cx="2965621" cy="579919"/>
          </a:xfrm>
          <a:prstGeom prst="rect">
            <a:avLst/>
          </a:prstGeom>
          <a:solidFill>
            <a:srgbClr val="E6E7E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676767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Acquisition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92582" y="1293282"/>
            <a:ext cx="2965621" cy="579919"/>
          </a:xfrm>
          <a:prstGeom prst="rect">
            <a:avLst/>
          </a:prstGeom>
          <a:solidFill>
            <a:srgbClr val="E6E7E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676767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Marketing Channels</a:t>
            </a:r>
          </a:p>
        </p:txBody>
      </p:sp>
      <p:sp>
        <p:nvSpPr>
          <p:cNvPr id="9" name="Shape 240"/>
          <p:cNvSpPr txBox="1">
            <a:spLocks/>
          </p:cNvSpPr>
          <p:nvPr/>
        </p:nvSpPr>
        <p:spPr>
          <a:xfrm>
            <a:off x="1524000" y="642230"/>
            <a:ext cx="9144000" cy="340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rgbClr val="132E5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sz="24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Open Sans"/>
              </a:rPr>
              <a:t>Go to Market Strategy</a:t>
            </a:r>
          </a:p>
        </p:txBody>
      </p:sp>
      <p:graphicFrame>
        <p:nvGraphicFramePr>
          <p:cNvPr id="6" name="Chart 5"/>
          <p:cNvGraphicFramePr/>
          <p:nvPr/>
        </p:nvGraphicFramePr>
        <p:xfrm>
          <a:off x="511494" y="2916192"/>
          <a:ext cx="2853049" cy="2513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F273B5F-EE95-4590-BED9-F90A9907035F}"/>
              </a:ext>
            </a:extLst>
          </p:cNvPr>
          <p:cNvSpPr/>
          <p:nvPr/>
        </p:nvSpPr>
        <p:spPr>
          <a:xfrm>
            <a:off x="413416" y="6334812"/>
            <a:ext cx="1943285" cy="377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F1F054-26F6-4F0C-906A-00AD01834316}"/>
              </a:ext>
            </a:extLst>
          </p:cNvPr>
          <p:cNvSpPr txBox="1"/>
          <p:nvPr/>
        </p:nvSpPr>
        <p:spPr>
          <a:xfrm>
            <a:off x="0" y="2188518"/>
            <a:ext cx="4349331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>
                    <a:lumMod val="75000"/>
                  </a:schemeClr>
                </a:solidFill>
                <a:cs typeface="Calibri"/>
              </a:rPr>
              <a:t>Age Group: 16-</a:t>
            </a:r>
            <a:r>
              <a:rPr lang="en-IN" dirty="0">
                <a:solidFill>
                  <a:schemeClr val="tx1">
                    <a:lumMod val="75000"/>
                  </a:schemeClr>
                </a:solidFill>
                <a:cs typeface="Calibri"/>
              </a:rPr>
              <a:t>40 years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>
                    <a:lumMod val="75000"/>
                  </a:schemeClr>
                </a:solidFill>
                <a:cs typeface="Calibri"/>
              </a:rPr>
              <a:t>Includes Students, Working Professionals, all segments of bloggers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03E4E7-E7F4-4084-814F-0D133682706B}"/>
              </a:ext>
            </a:extLst>
          </p:cNvPr>
          <p:cNvSpPr txBox="1"/>
          <p:nvPr/>
        </p:nvSpPr>
        <p:spPr>
          <a:xfrm>
            <a:off x="3797209" y="2186740"/>
            <a:ext cx="4349331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75000"/>
                  </a:schemeClr>
                </a:solidFill>
                <a:cs typeface="Calibri"/>
              </a:rPr>
              <a:t>Leverage Quality Content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75000"/>
                  </a:schemeClr>
                </a:solidFill>
                <a:cs typeface="Calibri"/>
              </a:rPr>
              <a:t>Focus on SEO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75000"/>
                  </a:schemeClr>
                </a:solidFill>
                <a:cs typeface="Calibri"/>
              </a:rPr>
              <a:t>Run a Referral Program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75000"/>
                  </a:schemeClr>
                </a:solidFill>
                <a:cs typeface="Calibri"/>
              </a:rPr>
              <a:t>Customer engagement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FB14E8-94B8-4F6E-A695-C8BCCE51B697}"/>
              </a:ext>
            </a:extLst>
          </p:cNvPr>
          <p:cNvSpPr txBox="1"/>
          <p:nvPr/>
        </p:nvSpPr>
        <p:spPr>
          <a:xfrm>
            <a:off x="7970548" y="2135966"/>
            <a:ext cx="4349331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75000"/>
                  </a:schemeClr>
                </a:solidFill>
                <a:cs typeface="Calibri"/>
              </a:rPr>
              <a:t>Social Media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75000"/>
                  </a:schemeClr>
                </a:solidFill>
                <a:cs typeface="Calibri"/>
              </a:rPr>
              <a:t>Affiliate Marketing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75000"/>
                  </a:schemeClr>
                </a:solidFill>
                <a:cs typeface="Calibri"/>
              </a:rPr>
              <a:t>Word of Mouth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75000"/>
                  </a:schemeClr>
                </a:solidFill>
                <a:cs typeface="Calibri"/>
              </a:rPr>
              <a:t>Email Marketing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75000"/>
                  </a:schemeClr>
                </a:solidFill>
                <a:cs typeface="Calibri"/>
              </a:rPr>
              <a:t>Content Marketing and SEO</a:t>
            </a:r>
          </a:p>
        </p:txBody>
      </p:sp>
      <p:sp>
        <p:nvSpPr>
          <p:cNvPr id="3" name="Shape 240">
            <a:extLst>
              <a:ext uri="{FF2B5EF4-FFF2-40B4-BE49-F238E27FC236}">
                <a16:creationId xmlns:a16="http://schemas.microsoft.com/office/drawing/2014/main" id="{BEF7B66A-834A-4276-9001-DD7C4FEF04B6}"/>
              </a:ext>
            </a:extLst>
          </p:cNvPr>
          <p:cNvSpPr txBox="1">
            <a:spLocks/>
          </p:cNvSpPr>
          <p:nvPr/>
        </p:nvSpPr>
        <p:spPr>
          <a:xfrm>
            <a:off x="1255986" y="4657182"/>
            <a:ext cx="9144000" cy="340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rgbClr val="132E5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sz="2400" dirty="0">
                <a:latin typeface="Open Sans Semibold"/>
                <a:ea typeface="Open Sans Semibold"/>
                <a:cs typeface="Open Sans Semibold"/>
                <a:sym typeface="Open Sans"/>
              </a:rPr>
              <a:t>Long Term Plans</a:t>
            </a:r>
            <a:endParaRPr lang="en-US" sz="2400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01A226-5CA9-4F78-8D29-4D69CABE1091}"/>
              </a:ext>
            </a:extLst>
          </p:cNvPr>
          <p:cNvSpPr/>
          <p:nvPr/>
        </p:nvSpPr>
        <p:spPr>
          <a:xfrm>
            <a:off x="479106" y="5457662"/>
            <a:ext cx="2965621" cy="579919"/>
          </a:xfrm>
          <a:prstGeom prst="rect">
            <a:avLst/>
          </a:prstGeom>
          <a:solidFill>
            <a:srgbClr val="E6E7E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676767"/>
                </a:solidFill>
                <a:latin typeface="Open Sans Semibold"/>
                <a:ea typeface="Open Sans Semibold"/>
                <a:cs typeface="Open Sans Semibold"/>
              </a:rPr>
              <a:t>Prix Coins 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F0165B-3A99-4CCB-84B4-4F910DB81955}"/>
              </a:ext>
            </a:extLst>
          </p:cNvPr>
          <p:cNvSpPr/>
          <p:nvPr/>
        </p:nvSpPr>
        <p:spPr>
          <a:xfrm>
            <a:off x="4371716" y="5457662"/>
            <a:ext cx="2965621" cy="579919"/>
          </a:xfrm>
          <a:prstGeom prst="rect">
            <a:avLst/>
          </a:prstGeom>
          <a:solidFill>
            <a:srgbClr val="E6E7E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676767"/>
                </a:solidFill>
                <a:latin typeface="Open Sans Semibold"/>
                <a:ea typeface="Open Sans Semibold"/>
                <a:cs typeface="Open Sans Semibold"/>
              </a:rPr>
              <a:t>Video Podcasts 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BB04D7-1A0A-46F6-B213-915A58FDAAC7}"/>
              </a:ext>
            </a:extLst>
          </p:cNvPr>
          <p:cNvSpPr/>
          <p:nvPr/>
        </p:nvSpPr>
        <p:spPr>
          <a:xfrm>
            <a:off x="8418858" y="5458006"/>
            <a:ext cx="2965621" cy="579919"/>
          </a:xfrm>
          <a:prstGeom prst="rect">
            <a:avLst/>
          </a:prstGeom>
          <a:solidFill>
            <a:srgbClr val="E6E7E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676767"/>
                </a:solidFill>
                <a:latin typeface="Open Sans Semibold"/>
                <a:ea typeface="Open Sans Semibold"/>
                <a:cs typeface="Open Sans Semibold"/>
              </a:rPr>
              <a:t>Social Media Platform </a:t>
            </a:r>
            <a:endParaRPr lang="en-US" dirty="0">
              <a:solidFill>
                <a:srgbClr val="676767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3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40"/>
          <p:cNvSpPr txBox="1">
            <a:spLocks/>
          </p:cNvSpPr>
          <p:nvPr/>
        </p:nvSpPr>
        <p:spPr>
          <a:xfrm>
            <a:off x="1524000" y="642230"/>
            <a:ext cx="9144000" cy="340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rgbClr val="132E5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sz="24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Open Sans"/>
              </a:rPr>
              <a:t>Financial Plan &amp; Revenue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9E02F1-2CA0-4652-9AB4-18A4914C0039}"/>
              </a:ext>
            </a:extLst>
          </p:cNvPr>
          <p:cNvSpPr/>
          <p:nvPr/>
        </p:nvSpPr>
        <p:spPr>
          <a:xfrm>
            <a:off x="461639" y="6326758"/>
            <a:ext cx="1797287" cy="246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03220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40"/>
          <p:cNvSpPr txBox="1">
            <a:spLocks/>
          </p:cNvSpPr>
          <p:nvPr/>
        </p:nvSpPr>
        <p:spPr>
          <a:xfrm>
            <a:off x="1274618" y="2205037"/>
            <a:ext cx="9144000" cy="1223963"/>
          </a:xfrm>
          <a:prstGeom prst="rect">
            <a:avLst/>
          </a:prstGeom>
          <a:noFill/>
          <a:ln>
            <a:noFill/>
          </a:ln>
        </p:spPr>
        <p:txBody>
          <a:bodyPr vert="horz" lIns="91425" tIns="45700" rIns="91425" bIns="457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rgbClr val="ED942D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>
              <a:spcBef>
                <a:spcPts val="0"/>
              </a:spcBef>
              <a:buClr>
                <a:srgbClr val="132E57"/>
              </a:buClr>
              <a:buSzPct val="25000"/>
              <a:buFont typeface="Open Sans"/>
              <a:buNone/>
            </a:pPr>
            <a:r>
              <a:rPr lang="en-US">
                <a:sym typeface="Open Sans"/>
              </a:rPr>
              <a:t>Thank you</a:t>
            </a:r>
            <a:endParaRPr lang="en-US" sz="4400">
              <a:sym typeface="Open Sans"/>
            </a:endParaRPr>
          </a:p>
        </p:txBody>
      </p:sp>
      <p:sp>
        <p:nvSpPr>
          <p:cNvPr id="7" name="Shape 240">
            <a:extLst>
              <a:ext uri="{FF2B5EF4-FFF2-40B4-BE49-F238E27FC236}">
                <a16:creationId xmlns:a16="http://schemas.microsoft.com/office/drawing/2014/main" id="{863C07A2-86AC-4CCE-887A-316E44848BA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709" y="3429000"/>
            <a:ext cx="11637818" cy="122396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buClr>
                <a:srgbClr val="132E57"/>
              </a:buClr>
              <a:buSzPct val="25000"/>
              <a:buFont typeface="Open Sans"/>
              <a:buNone/>
            </a:pPr>
            <a:r>
              <a:rPr lang="en-US" sz="2400">
                <a:sym typeface="Open Sans"/>
              </a:rPr>
              <a:t>Create | Define |Build | Earn </a:t>
            </a:r>
            <a:endParaRPr lang="en-US" sz="2000" b="0" i="0" u="none" strike="noStrike" cap="none">
              <a:solidFill>
                <a:schemeClr val="bg2"/>
              </a:solidFill>
              <a:sym typeface="Open San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394810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3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SLIDE_COUNT" val="24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FI_PPT_Template2016">
  <a:themeElements>
    <a:clrScheme name="Custom 1">
      <a:dk1>
        <a:srgbClr val="132E57"/>
      </a:dk1>
      <a:lt1>
        <a:srgbClr val="FFFFFF"/>
      </a:lt1>
      <a:dk2>
        <a:srgbClr val="132E57"/>
      </a:dk2>
      <a:lt2>
        <a:srgbClr val="FFFFFF"/>
      </a:lt2>
      <a:accent1>
        <a:srgbClr val="ED9423"/>
      </a:accent1>
      <a:accent2>
        <a:srgbClr val="F57A16"/>
      </a:accent2>
      <a:accent3>
        <a:srgbClr val="FA621C"/>
      </a:accent3>
      <a:accent4>
        <a:srgbClr val="1E8496"/>
      </a:accent4>
      <a:accent5>
        <a:srgbClr val="1E2A39"/>
      </a:accent5>
      <a:accent6>
        <a:srgbClr val="676767"/>
      </a:accent6>
      <a:hlink>
        <a:srgbClr val="ED9423"/>
      </a:hlink>
      <a:folHlink>
        <a:srgbClr val="1E8496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FI_PPT_Template2016" id="{62F73663-4969-433C-ACC7-E04B43F45609}" vid="{9BA6B010-48BE-4C9D-92DE-E627DA9F9638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8B82696D173B4989A48E70608BCE99" ma:contentTypeVersion="11" ma:contentTypeDescription="Create a new document." ma:contentTypeScope="" ma:versionID="23ceaef00948fe13879c1aff55d62f07">
  <xsd:schema xmlns:xsd="http://www.w3.org/2001/XMLSchema" xmlns:xs="http://www.w3.org/2001/XMLSchema" xmlns:p="http://schemas.microsoft.com/office/2006/metadata/properties" xmlns:ns3="c6a339fd-5947-4fcf-8da3-e253639ebf6e" xmlns:ns4="ed923541-b2db-4a4f-a0de-6d6e566b880e" targetNamespace="http://schemas.microsoft.com/office/2006/metadata/properties" ma:root="true" ma:fieldsID="65578e88a70e5a8d726db74cc2380dee" ns3:_="" ns4:_="">
    <xsd:import namespace="c6a339fd-5947-4fcf-8da3-e253639ebf6e"/>
    <xsd:import namespace="ed923541-b2db-4a4f-a0de-6d6e566b88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a339fd-5947-4fcf-8da3-e253639ebf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923541-b2db-4a4f-a0de-6d6e566b880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DC44AA9-9001-4422-AA52-452C22B23442}">
  <ds:schemaRefs>
    <ds:schemaRef ds:uri="c6a339fd-5947-4fcf-8da3-e253639ebf6e"/>
    <ds:schemaRef ds:uri="ed923541-b2db-4a4f-a0de-6d6e566b880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B11B4E6-21F9-4181-9C12-5DA19D5B26B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0B75EB-6B45-43BF-B71F-79BFAF77CAB5}">
  <ds:schemaRefs>
    <ds:schemaRef ds:uri="c6a339fd-5947-4fcf-8da3-e253639ebf6e"/>
    <ds:schemaRef ds:uri="ed923541-b2db-4a4f-a0de-6d6e566b880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CFI_PPT_Template2016</Template>
  <TotalTime>0</TotalTime>
  <Words>522</Words>
  <Application>Microsoft Office PowerPoint</Application>
  <PresentationFormat>Widescreen</PresentationFormat>
  <Paragraphs>124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Wingdings</vt:lpstr>
      <vt:lpstr>Open Sans</vt:lpstr>
      <vt:lpstr>Open Sans Light</vt:lpstr>
      <vt:lpstr>Arial</vt:lpstr>
      <vt:lpstr>Calibri</vt:lpstr>
      <vt:lpstr>Open Sans Semibold</vt:lpstr>
      <vt:lpstr>CFI_PPT_Template2016</vt:lpstr>
      <vt:lpstr>Create Artilogs | Define Content | Build Community | Earn Awards &amp; Badges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Create | Define |Build | Earn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Duvet Business</dc:title>
  <dc:creator>CFI</dc:creator>
  <cp:lastModifiedBy>PADHMAJA K</cp:lastModifiedBy>
  <cp:revision>1</cp:revision>
  <dcterms:modified xsi:type="dcterms:W3CDTF">2020-12-02T12:49:08Z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50EBF1F6-C5FF-4E2E-B6D4-AB011D0F5E2E</vt:lpwstr>
  </property>
  <property fmtid="{D5CDD505-2E9C-101B-9397-08002B2CF9AE}" pid="3" name="ArticulatePath">
    <vt:lpwstr>CFI_MVC</vt:lpwstr>
  </property>
  <property fmtid="{D5CDD505-2E9C-101B-9397-08002B2CF9AE}" pid="4" name="ContentTypeId">
    <vt:lpwstr>0x010100D58B82696D173B4989A48E70608BCE99</vt:lpwstr>
  </property>
</Properties>
</file>