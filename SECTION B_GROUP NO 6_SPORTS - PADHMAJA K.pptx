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Oswald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45e5f8dd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a45e5f8dd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a45e5f8dd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a45e5f8dd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45e5f8dd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45e5f8dd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a45e5f8dd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a45e5f8dd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a45e5f8dd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a45e5f8dd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a45e5f8dd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a45e5f8dd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1641075" y="1576075"/>
            <a:ext cx="62013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Calibri"/>
                <a:ea typeface="Calibri"/>
                <a:cs typeface="Calibri"/>
                <a:sym typeface="Calibri"/>
              </a:rPr>
              <a:t>Marketing Management - I Final Presentation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2172150" y="3735075"/>
            <a:ext cx="311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Under the g</a:t>
            </a: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uidance</a:t>
            </a: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 of: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Prof. Dhananjay Bapat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2631300" y="4077975"/>
            <a:ext cx="70431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Presented by: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Arpita Awasthi 20PGP033 | Dikshant Dahiya 20PGP127 |Harshit Gupta 20PGP075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              Kevin Abraham Vazhayil 20PGP097 |Padhmaja K 20PGP138 |Piyush Soni 20PGP078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Sumit Shekhar 20PGP095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	  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200" y="219574"/>
            <a:ext cx="2681600" cy="13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/>
          <p:nvPr/>
        </p:nvSpPr>
        <p:spPr>
          <a:xfrm>
            <a:off x="1813725" y="2188825"/>
            <a:ext cx="5856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latin typeface="Calibri"/>
                <a:ea typeface="Calibri"/>
                <a:cs typeface="Calibri"/>
                <a:sym typeface="Calibri"/>
              </a:rPr>
              <a:t>Sports Industry </a:t>
            </a:r>
            <a:endParaRPr b="1" sz="5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2690650" y="19610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5879875" y="2020200"/>
            <a:ext cx="2949300" cy="141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</a:t>
            </a:r>
            <a:r>
              <a:rPr b="1" lang="en" sz="1500"/>
              <a:t> MARKET TREND </a:t>
            </a:r>
            <a:endParaRPr b="1"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 </a:t>
            </a:r>
            <a:r>
              <a:rPr lang="en" sz="1300"/>
              <a:t>ATHLEISURE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SPORTS AFFILIATION</a:t>
            </a:r>
            <a:endParaRPr sz="13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300"/>
              <a:t>DISPOSABLE INCOME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5879875" y="3704125"/>
            <a:ext cx="2949300" cy="118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MARKET SEGMENTATION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</a:t>
            </a:r>
            <a:r>
              <a:rPr lang="en"/>
              <a:t>END USER-  a) men - &gt;50%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b) others</a:t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316075" y="3704150"/>
            <a:ext cx="2949300" cy="118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</a:t>
            </a:r>
            <a:r>
              <a:rPr b="1" lang="en" sz="1500"/>
              <a:t>DISTRIBUTION CHANNEL </a:t>
            </a:r>
            <a:endParaRPr b="1"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RETAIL- 79%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ONLINE-21%</a:t>
            </a:r>
            <a:endParaRPr sz="1300"/>
          </a:p>
        </p:txBody>
      </p:sp>
      <p:sp>
        <p:nvSpPr>
          <p:cNvPr id="143" name="Google Shape;143;p14"/>
          <p:cNvSpPr/>
          <p:nvPr/>
        </p:nvSpPr>
        <p:spPr>
          <a:xfrm>
            <a:off x="3300950" y="2240200"/>
            <a:ext cx="2307600" cy="101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</a:t>
            </a:r>
            <a:r>
              <a:rPr b="1" lang="en" sz="1500"/>
              <a:t>MARKET SHARE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</a:t>
            </a:r>
            <a:r>
              <a:rPr b="1" lang="en" sz="1300"/>
              <a:t> </a:t>
            </a:r>
            <a:r>
              <a:rPr lang="en" sz="1300"/>
              <a:t> 238 BILLION USD</a:t>
            </a:r>
            <a:endParaRPr sz="1300"/>
          </a:p>
        </p:txBody>
      </p:sp>
      <p:sp>
        <p:nvSpPr>
          <p:cNvPr id="144" name="Google Shape;144;p14"/>
          <p:cNvSpPr/>
          <p:nvPr/>
        </p:nvSpPr>
        <p:spPr>
          <a:xfrm>
            <a:off x="316075" y="2042500"/>
            <a:ext cx="2613000" cy="141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</a:t>
            </a:r>
            <a:r>
              <a:rPr b="1" lang="en" sz="1500"/>
              <a:t> INNOVATION </a:t>
            </a:r>
            <a:endParaRPr b="1" sz="15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MICROFIBERS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NANOTECHNOLOGY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INSULATOR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POLYESTER</a:t>
            </a:r>
            <a:endParaRPr sz="1200"/>
          </a:p>
        </p:txBody>
      </p:sp>
      <p:pic>
        <p:nvPicPr>
          <p:cNvPr id="145" name="Google Shape;145;p14"/>
          <p:cNvPicPr preferRelativeResize="0"/>
          <p:nvPr/>
        </p:nvPicPr>
        <p:blipFill rotWithShape="1">
          <a:blip r:embed="rId3">
            <a:alphaModFix/>
          </a:blip>
          <a:srcRect b="0" l="0" r="41616" t="0"/>
          <a:stretch/>
        </p:blipFill>
        <p:spPr>
          <a:xfrm>
            <a:off x="5608550" y="515200"/>
            <a:ext cx="2949300" cy="133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1393625" y="753225"/>
            <a:ext cx="39336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E69138"/>
                </a:solidFill>
                <a:latin typeface="Oswald"/>
                <a:ea typeface="Oswald"/>
                <a:cs typeface="Oswald"/>
                <a:sym typeface="Oswald"/>
              </a:rPr>
              <a:t>I</a:t>
            </a:r>
            <a:r>
              <a:rPr lang="en" sz="4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NTRODUCTION</a:t>
            </a:r>
            <a:endParaRPr sz="4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3462313" y="3791725"/>
            <a:ext cx="2183700" cy="101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</a:t>
            </a:r>
            <a:r>
              <a:rPr b="1" lang="en" sz="1500"/>
              <a:t> </a:t>
            </a:r>
            <a:r>
              <a:rPr b="1" lang="en" sz="1500"/>
              <a:t> PRODUCT WISE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SHOES- 58%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APPAREL- 42%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63" y="301250"/>
            <a:ext cx="3838575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750363" y="1230250"/>
            <a:ext cx="3088800" cy="3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Sport Tourism 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Sport goods 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Sports Apparel 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Amateur Participant Sports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Professional Sports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High School and college athletics 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Outdoor Sports 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Sports Marketing Firms 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Sports Sponsorship[ Industries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Sports Governing bodies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s response chart. Question title: What sports  do you play?. Number of responses: 54 responses." id="154" name="Google Shape;15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9275" y="2278125"/>
            <a:ext cx="4158125" cy="25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9975" y="301250"/>
            <a:ext cx="2543475" cy="19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5"/>
          <p:cNvSpPr txBox="1"/>
          <p:nvPr/>
        </p:nvSpPr>
        <p:spPr>
          <a:xfrm>
            <a:off x="6426300" y="759950"/>
            <a:ext cx="21726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Young Children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Fitness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enthusiasts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Professionals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Genx and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Millenials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Older people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9800" y="356925"/>
            <a:ext cx="1656025" cy="1724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819150" y="268000"/>
            <a:ext cx="75057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Oswald"/>
                <a:ea typeface="Oswald"/>
                <a:cs typeface="Oswald"/>
                <a:sym typeface="Oswald"/>
              </a:rPr>
              <a:t>Market Conditions related to Covid19 scenario</a:t>
            </a:r>
            <a:endParaRPr b="1" sz="2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495100" y="1086450"/>
            <a:ext cx="2667900" cy="440100"/>
          </a:xfrm>
          <a:prstGeom prst="flowChartAlternateProcess">
            <a:avLst/>
          </a:prstGeom>
          <a:solidFill>
            <a:srgbClr val="A64D7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</a:rPr>
              <a:t>Pre Covid19 scenario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052300" y="1086450"/>
            <a:ext cx="2667900" cy="440100"/>
          </a:xfrm>
          <a:prstGeom prst="flowChartAlternateProcess">
            <a:avLst/>
          </a:prstGeom>
          <a:solidFill>
            <a:srgbClr val="4581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</a:rPr>
              <a:t>Post Covid19 strategy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3273700" y="1086450"/>
            <a:ext cx="2667900" cy="440100"/>
          </a:xfrm>
          <a:prstGeom prst="flowChartAlternateProcess">
            <a:avLst/>
          </a:prstGeom>
          <a:solidFill>
            <a:srgbClr val="674EA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</a:rPr>
              <a:t>During Covid19 scenario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522600" y="1636575"/>
            <a:ext cx="2640300" cy="15540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Indian Sports Industry: </a:t>
            </a:r>
            <a:endParaRPr b="1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Major concentration on offline mode rather than digital mode</a:t>
            </a:r>
            <a:endParaRPr sz="1200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No promoters. Basically clubs and state team games did the promotions</a:t>
            </a:r>
            <a:endParaRPr sz="1200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Production according to Indian terrain.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522600" y="3190625"/>
            <a:ext cx="2640300" cy="15129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International Sports Industry</a:t>
            </a:r>
            <a:endParaRPr b="1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Both offline and online mode were active in promotion and selling</a:t>
            </a:r>
            <a:endParaRPr sz="1200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brand loyalists continues to stay and the companies concentrate majorly on them only</a:t>
            </a:r>
            <a:endParaRPr sz="1200"/>
          </a:p>
        </p:txBody>
      </p:sp>
      <p:sp>
        <p:nvSpPr>
          <p:cNvPr id="168" name="Google Shape;168;p16"/>
          <p:cNvSpPr/>
          <p:nvPr/>
        </p:nvSpPr>
        <p:spPr>
          <a:xfrm>
            <a:off x="3294350" y="1650200"/>
            <a:ext cx="2640300" cy="15540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Indian Sports Industry: </a:t>
            </a:r>
            <a:endParaRPr b="1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Both online and offline mode got disrupted. The need of people got reduced</a:t>
            </a:r>
            <a:endParaRPr sz="1200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No </a:t>
            </a:r>
            <a:r>
              <a:rPr lang="en" sz="1200"/>
              <a:t>promotion</a:t>
            </a:r>
            <a:r>
              <a:rPr b="1" lang="en"/>
              <a:t>. </a:t>
            </a:r>
            <a:r>
              <a:rPr lang="en" sz="1200"/>
              <a:t>The usual method of club and game promotion won’t work since no viewers in online platform</a:t>
            </a:r>
            <a:endParaRPr sz="1200"/>
          </a:p>
        </p:txBody>
      </p:sp>
      <p:sp>
        <p:nvSpPr>
          <p:cNvPr id="169" name="Google Shape;169;p16"/>
          <p:cNvSpPr/>
          <p:nvPr/>
        </p:nvSpPr>
        <p:spPr>
          <a:xfrm>
            <a:off x="6066100" y="1650200"/>
            <a:ext cx="2640300" cy="15540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27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Indian Sports Industry: </a:t>
            </a:r>
            <a:endParaRPr b="1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Companies like Nivia changed online platform and increased digital presence</a:t>
            </a:r>
            <a:endParaRPr sz="1200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necessary for an omni channel approach on marketing and product placing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3294350" y="3204200"/>
            <a:ext cx="2640300" cy="1512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International Sports Industry</a:t>
            </a:r>
            <a:endParaRPr b="1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stopping of games and store lock down caused a disruption in advertisement.</a:t>
            </a:r>
            <a:endParaRPr sz="1200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Consumer spending reduced</a:t>
            </a:r>
            <a:endParaRPr sz="1200"/>
          </a:p>
        </p:txBody>
      </p:sp>
      <p:sp>
        <p:nvSpPr>
          <p:cNvPr id="171" name="Google Shape;171;p16"/>
          <p:cNvSpPr/>
          <p:nvPr/>
        </p:nvSpPr>
        <p:spPr>
          <a:xfrm>
            <a:off x="6066100" y="3204200"/>
            <a:ext cx="2640300" cy="1512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International Sports Industry</a:t>
            </a:r>
            <a:endParaRPr b="1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Reopening stores and improving traffic for both online and offline</a:t>
            </a:r>
            <a:endParaRPr sz="1200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Going in omnichannel. Anticipating the consumer behaviour</a:t>
            </a:r>
            <a:endParaRPr sz="1200"/>
          </a:p>
          <a:p>
            <a:pPr indent="-85344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Expecting aggressive movement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819050" y="562350"/>
            <a:ext cx="7505700" cy="6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Distribution Channels &amp; Marketing</a:t>
            </a:r>
            <a:r>
              <a:rPr b="1" lang="en"/>
              <a:t> </a:t>
            </a:r>
            <a:endParaRPr b="1"/>
          </a:p>
        </p:txBody>
      </p:sp>
      <p:sp>
        <p:nvSpPr>
          <p:cNvPr id="177" name="Google Shape;177;p17"/>
          <p:cNvSpPr txBox="1"/>
          <p:nvPr/>
        </p:nvSpPr>
        <p:spPr>
          <a:xfrm>
            <a:off x="4929200" y="2005350"/>
            <a:ext cx="339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3244450" y="1583600"/>
            <a:ext cx="5272200" cy="28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b="1" lang="en" sz="1100"/>
              <a:t>Relationship Marketing</a:t>
            </a:r>
            <a:r>
              <a:rPr lang="en" sz="1100"/>
              <a:t>: Devotion &amp; loyalty - If Ronaldo wears it, And I’m his fan; then I’ll buy it.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Advertising</a:t>
            </a:r>
            <a:r>
              <a:rPr lang="en" sz="1100"/>
              <a:t>: Nonpersonal, paid announcement by an identified sponsor - Used to reach large audiences and create brand awareness.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Personal connect</a:t>
            </a:r>
            <a:r>
              <a:rPr lang="en" sz="1100"/>
              <a:t>: Personal connect can be tailored to the target customers’ interests and needs.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Atmospherics</a:t>
            </a:r>
            <a:r>
              <a:rPr lang="en" sz="1100"/>
              <a:t>: Creating specific behavioral or emotional effect in the consumer -  The experience of attending a sports event in favourite team’s jersey.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Licensing and Sponsorship</a:t>
            </a:r>
            <a:r>
              <a:rPr lang="en" sz="1100"/>
              <a:t>: A business agreement between two parties based on reciprocity.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Online marketing</a:t>
            </a:r>
            <a:r>
              <a:rPr lang="en" sz="1100"/>
              <a:t>: Endorsements and social media influencing.</a:t>
            </a:r>
            <a:endParaRPr sz="1100"/>
          </a:p>
        </p:txBody>
      </p:sp>
      <p:sp>
        <p:nvSpPr>
          <p:cNvPr id="179" name="Google Shape;179;p17"/>
          <p:cNvSpPr/>
          <p:nvPr/>
        </p:nvSpPr>
        <p:spPr>
          <a:xfrm>
            <a:off x="654050" y="1583550"/>
            <a:ext cx="2319900" cy="28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b="1" lang="en" sz="1100"/>
              <a:t>Retail Outlet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b="1" lang="en" sz="1100"/>
              <a:t>E-marketplace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/>
              <a:t>Direct Selling 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/>
              <a:t>Event based selling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275" y="2674600"/>
            <a:ext cx="1611475" cy="69267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pic>
        <p:nvPicPr>
          <p:cNvPr id="181" name="Google Shape;1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275" y="3367275"/>
            <a:ext cx="1611476" cy="79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title"/>
          </p:nvPr>
        </p:nvSpPr>
        <p:spPr>
          <a:xfrm>
            <a:off x="819150" y="203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Campaigns for emotional Connect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7" name="Google Shape;1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00" y="838625"/>
            <a:ext cx="8665676" cy="417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type="title"/>
          </p:nvPr>
        </p:nvSpPr>
        <p:spPr>
          <a:xfrm>
            <a:off x="966625" y="2094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